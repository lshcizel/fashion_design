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0" r:id="rId10"/>
    <p:sldId id="271" r:id="rId11"/>
    <p:sldId id="262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6"/>
    <p:sldId id="282" r:id="rId27"/>
    <p:sldId id="28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86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, Yujuan [Alumni]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2"/>
  </p:normalViewPr>
  <p:slideViewPr>
    <p:cSldViewPr snapToGrid="0" snapToObjects="1" showGuides="1">
      <p:cViewPr varScale="1">
        <p:scale>
          <a:sx n="138" d="100"/>
          <a:sy n="138" d="100"/>
        </p:scale>
        <p:origin x="176" y="504"/>
      </p:cViewPr>
      <p:guideLst>
        <p:guide orient="horz" pos="2135"/>
        <p:guide pos="28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commentAuthors" Target="commentAuthors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&#24037;&#20316;&#31807;1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Sheet1!$A$1:$B$1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c8a0682-1c63-4d07-ac85-a7cb0977418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轮均 train_loss（纵轴放大）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轮均 train_loss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 1 轮</c:v>
                </c:pt>
                <c:pt idx="1">
                  <c:v>第 2 轮</c:v>
                </c:pt>
                <c:pt idx="2">
                  <c:v>第 3 轮</c:v>
                </c:pt>
                <c:pt idx="3">
                  <c:v>第 4 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0.2809</c:v>
                </c:pt>
                <c:pt idx="1">
                  <c:v>0.2804</c:v>
                </c:pt>
                <c:pt idx="2">
                  <c:v>0.2797</c:v>
                </c:pt>
                <c:pt idx="3">
                  <c:v>0.2792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2815"/>
          <c:min val="0.2785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6T13:03:36.606" idx="1">
    <p:pos x="10" y="10"/>
    <p:text>给这里每一个模块分一个颜色，后面每一页介绍对应模块的时候用对应的颜色区分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image" Target="../media/image1.png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8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9.xm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tags" Target="../tags/tag10.xml"/><Relationship Id="rId4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Quality Scoring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版本 ] </a:t>
            </a:r>
            <a:r>
              <a:rPr sz="17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fashion_text_prompt_optimizer  v0.4.5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讲什么 ] </a:t>
            </a:r>
            <a:r>
              <a:rPr sz="17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质量轴怎么设计，分数怎么从指标汇总到最终 S_fp。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评什么 ] </a:t>
            </a:r>
            <a:r>
              <a:rPr sz="17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质量轴问「好不好」：写得具体、准确、清晰，有识别性设计想法，并能直接拿去生图。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1. </a:t>
            </a:r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Scor</a:t>
            </a:r>
            <a:r>
              <a:rPr lang="en-US"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e Method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4590" y="2540"/>
            <a:ext cx="5600065" cy="122110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覆盖轴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 ]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问有没有。该写的点按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命中，再取平均，得到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C。</a:t>
            </a: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质量轴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80% ]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问好不好。六个子模块先各自均分，再按权重合成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Q。这是主轴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惩罚项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不扣分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]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冗余、左右互斥、气质打架、不合理、套公式。不从总分里扣，只用来卡门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0" y="309022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14895" y="3611112"/>
            <a:ext cx="14318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Coverage (20%)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70066" y="4684862"/>
            <a:ext cx="1431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Quality (80%)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4702" y="1174203"/>
            <a:ext cx="5059516" cy="171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Axes: </a:t>
            </a:r>
            <a:endParaRPr lang="en-US" altLang="zh-CN" sz="1800" b="1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Quality (Score)</a:t>
            </a:r>
            <a:endParaRPr lang="en-US" altLang="zh-CN" sz="1800" b="1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Coverage (Score)</a:t>
            </a:r>
            <a:endParaRPr lang="en-US" altLang="zh-CN" sz="1800" b="1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Punishment (Threshold)</a:t>
            </a:r>
            <a:endParaRPr lang="zh-CN" altLang="en-US" dirty="0"/>
          </a:p>
        </p:txBody>
      </p:sp>
      <p:sp>
        <p:nvSpPr>
          <p:cNvPr id="2" name="TextBox 5"/>
          <p:cNvSpPr txBox="1"/>
          <p:nvPr/>
        </p:nvSpPr>
        <p:spPr>
          <a:xfrm>
            <a:off x="4829810" y="4384675"/>
            <a:ext cx="6106160" cy="189611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覆盖分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] </a:t>
            </a:r>
            <a:r>
              <a:rPr sz="1000" b="0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= </a:t>
            </a:r>
            <a:r>
              <a:rPr sz="1000" b="0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适用覆盖指标取平均</a:t>
            </a: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质量分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]  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Q_w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 = 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Σ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(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w_i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 · 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m_i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) / 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Σ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(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w_i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)</a:t>
            </a:r>
            <a:endParaRPr sz="1000" b="0" i="0" dirty="0">
              <a:solidFill>
                <a:srgbClr val="1A1A1A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 dirty="0">
              <a:solidFill>
                <a:srgbClr val="1A1A1A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              Q = min(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Q_w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, </a:t>
            </a:r>
            <a:r>
              <a:rPr sz="1000" b="0" i="0" dirty="0" err="1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cap_q</a:t>
            </a:r>
            <a:r>
              <a:rPr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)</a:t>
            </a:r>
            <a:endParaRPr sz="1000" b="0" i="0" dirty="0">
              <a:solidFill>
                <a:srgbClr val="1A1A1A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</a:t>
            </a:r>
            <a:r>
              <a:rPr sz="1000" b="1" i="0" dirty="0" err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内容主分</a:t>
            </a:r>
            <a:r>
              <a:rPr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]  </a:t>
            </a:r>
            <a:r>
              <a:rPr lang="zh-CN"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如上图</a:t>
            </a:r>
            <a:r>
              <a:rPr lang="zh-CN" sz="1000" b="1" i="0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lang="zh-CN" sz="1000" b="1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br>
              <a:rPr sz="1600" b="0" i="0" dirty="0">
                <a:solidFill>
                  <a:srgbClr val="FF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</a:br>
            <a:r>
              <a:rPr lang="zh-CN" sz="1600" b="0" i="0" dirty="0">
                <a:solidFill>
                  <a:srgbClr val="FF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以上主体部分的计算还是不变</a:t>
            </a:r>
            <a:br>
              <a:rPr lang="zh-CN" sz="1000" b="0" i="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</a:br>
            <a:endParaRPr lang="zh-CN" altLang="en-US" sz="1000" b="0" i="0" dirty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3980180" y="1223645"/>
            <a:ext cx="10880090" cy="29724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[ 1  预处理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去掉生图固定句、章节标题等，得到正文。字数和裁判都按这段正文来。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[ 2  裁判打分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覆盖按 0 或 1，质量五档 0~1，惩罚五档 0~1。用不上的项跳过。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[ 3  模块均分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每个质量子模块 = 适用指标取平均。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[ 4  按权重合成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六个模块按 ×10 / ×3 / ×3 / ×1 / ×1 / ×1 加权，得到 Q_w。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[ 5  质量有效分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= min(Q_w, cap_q)。默认上限 1.0；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关系轴得分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0.5 时</a:t>
            </a:r>
            <a:r>
              <a:rPr lang="en-US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Quality</a:t>
            </a:r>
            <a:r>
              <a:rPr lang="zh-CN" altLang="en-US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的上限限制到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以内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[ 6  内容主分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s_fp= 0.2·C + 0.8·Q。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[ 7  长度校正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微调，</a:t>
            </a:r>
            <a:r>
              <a:rPr lang="zh-CN" sz="100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  <a:sym typeface="+mn-ea"/>
              </a:rPr>
              <a:t>考虑到</a:t>
            </a:r>
            <a:r>
              <a:rPr lang="en-US" altLang="zh-CN" sz="100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  <a:sym typeface="+mn-ea"/>
              </a:rPr>
              <a:t>clip</a:t>
            </a:r>
            <a:r>
              <a:rPr lang="zh-CN" altLang="en-US" sz="1000" dirty="0">
                <a:solidFill>
                  <a:srgbClr val="1A1A1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  <a:sym typeface="+mn-ea"/>
              </a:rPr>
              <a:t>用于单条内容的长度、内容正交的不合理性，</a:t>
            </a:r>
            <a:r>
              <a:rPr lang="zh-CN"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并最终应用</a:t>
            </a:r>
            <a:r>
              <a:rPr lang="zh-CN" sz="10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新的解决思路来确保解耦合</a:t>
            </a:r>
            <a:endParaRPr sz="1000" b="0" i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[ 8  双门限 ] </a:t>
            </a:r>
            <a:r>
              <a:rPr sz="10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S_fp ≥ 0.7 且惩罚平均 ≤ 0.5。惩罚只挡门，不改分数。</a:t>
            </a:r>
            <a:endParaRPr sz="10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5002530" y="2609850"/>
            <a:ext cx="327660" cy="2235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02530" y="2381250"/>
            <a:ext cx="3559175" cy="4165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1.1 </a:t>
            </a:r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Quality Modules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模块设计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怎么加权 ] </a:t>
            </a:r>
            <a:r>
              <a:rPr sz="16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质量轴先按模块打分，再按权重合成。权重大，说明这件事更决定「好不好」。</a:t>
            </a: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4702" y="2550000"/>
          <a:ext cx="10879999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200"/>
                <a:gridCol w="979200"/>
                <a:gridCol w="1196800"/>
                <a:gridCol w="5004799"/>
              </a:tblGrid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占质量轴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评什么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4B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设计价值  DesignMerit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2F4B8A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4CC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×10.0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6E9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52.6%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6E9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有没有不可替换的识别性设计想法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6E9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可见性优先级  ConcisenessAndDensity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1A7A72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×3.0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3E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15.8%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3E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可见主体是否压过姿态、评论、隐藏细节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3EFEE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生成适配  GenerationReadiness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C2780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×3.0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15.8%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文本能否直接支撑 text-to-image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7EEE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属性绑定  BindingAccuracy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A33B5C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×1.0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3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5.3%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3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颜色、材质、配件有没有绑到正确对象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3E7E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语言清晰  LanguageClarity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4A7C3F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×1.0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9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5.3%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9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数量、代词、省略能不能一次读懂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9EFE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结构清晰  StructuralClarity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50800" cap="flat" cmpd="sng" algn="ctr">
                      <a:solidFill>
                        <a:srgbClr val="6B4C9A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×1.0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5.3%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信息是否按主体到细节递进、按件聚合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E9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4702" y="56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怎么读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设计价值单独约占质量轴 53%。可见性和生成适配合起来约占 32%。绑定、语言、结构各约 5%，用来兜底可读性。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ModuleBar_DesignMerit"/>
          <p:cNvSpPr/>
          <p:nvPr/>
        </p:nvSpPr>
        <p:spPr>
          <a:xfrm>
            <a:off x="564702" y="2950000"/>
            <a:ext cx="70000" cy="400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oduleBar_ConcisenessAndDensity"/>
          <p:cNvSpPr/>
          <p:nvPr/>
        </p:nvSpPr>
        <p:spPr>
          <a:xfrm>
            <a:off x="564702" y="3350000"/>
            <a:ext cx="70000" cy="400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oduleBar_GenerationReadiness"/>
          <p:cNvSpPr/>
          <p:nvPr/>
        </p:nvSpPr>
        <p:spPr>
          <a:xfrm>
            <a:off x="564702" y="3750000"/>
            <a:ext cx="70000" cy="400000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oduleBar_BindingAccuracy"/>
          <p:cNvSpPr/>
          <p:nvPr/>
        </p:nvSpPr>
        <p:spPr>
          <a:xfrm>
            <a:off x="564702" y="4150000"/>
            <a:ext cx="70000" cy="400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oduleBar_LanguageClarity"/>
          <p:cNvSpPr/>
          <p:nvPr/>
        </p:nvSpPr>
        <p:spPr>
          <a:xfrm>
            <a:off x="564702" y="4550000"/>
            <a:ext cx="70000" cy="400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oduleBar_StructuralClarity"/>
          <p:cNvSpPr/>
          <p:nvPr/>
        </p:nvSpPr>
        <p:spPr>
          <a:xfrm>
            <a:off x="564702" y="4950000"/>
            <a:ext cx="70000" cy="4000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1.1.1 </a:t>
            </a:r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Design Merit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×10.0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评什么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有没有不可替换的可见设计想法。写细、写全、露腰、系腰带，都不等于独特。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怎么检验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把颜色、材质、品牌词换掉，造型身份是否还在。换完仍可读成同一套，就不是高分。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什么高分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整面表面场（肌理 / 印花 / 密铺装饰）；画出轮廓的沿边路径；开合后内层仍是另一件可读的衣服；两件主干在表面或量感上对撞。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什么低分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成衣收口、常规叠穿、</a:t>
            </a:r>
            <a:r>
              <a:rPr lang="zh-CN"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系列共用的</a:t>
            </a:r>
            <a:r>
              <a:rPr lang="zh-CN"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固定搭配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短夹克 + 衬衫 + 短裤/裤 + 腰带语法、面料情绪词、主题对仗。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打完分后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裁判打完后，若文本检测不到识别性想法，相关指标会被压到 0.25–0.5，避免把「写细」当成「写好」。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Design Merit Metrics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五档 0 / 0.25 / 0.5 / 0.75 / 1.0。模块分 = 适用指标取平均。工艺装饰只在工艺明显时才计分。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4702" y="2380000"/>
          <a:ext cx="10879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527"/>
                <a:gridCol w="4423736"/>
                <a:gridCol w="4423736"/>
              </a:tblGrid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  有识别性想法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  没有识别性想法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设计独特性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整面表面场、沿边路径、开合后可读内层、或主干对撞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成衣收口、常规叠穿、系列共用廓形、面料情绪或主题对仗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视觉观察锚定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想法落在部位、沿边路径或开合层次上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部位写得很满，锚定的只是收口、露腰、五金或主题句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工艺装饰显著度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装饰性沿边、整面肌理/印花场、图形裁片画出轮廓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只有明线、暗襟、滚边、品牌五金等成衣收口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组合原创性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开合后内层有自己的品类或表面身份；或主干对撞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常规叠穿，换一件主干读感不变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设计信号纯度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几乎全是在写那个识别性想法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可成像，但信号是规格清单、主题对仗或姿态指令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2F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1. </a:t>
            </a:r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Visibility &amp; Generation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 ×3.0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可见性优先级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看可见且决定成像的主体（廓形、品类、层次、主色、工艺路径、可见配件）是否压过隐藏细节、模特姿态和抽象评论。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可见主体始终居前且占主导。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氛围 / 姿态与主体争抢。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0.25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非成像内容喧宾夺主。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生成适配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看文本能否直接支撑生图：可见廓形、品类、材质、颜色、工艺位置、层次与配件是否足够具体、可成像。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几乎可直接作为生图 prompt。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可见事实与评论/姿态各占一半。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0.25 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抽象评论或姿态指令为主。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硬封顶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姿态/走位占显著篇幅 → 可见性与生成适配最高 0.5；抽象评论明显多于可见事实 → 最高 0.25。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生成适配还看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左右一致性：主干衣裤鞋的左右互斥要收束。空间关系：内外、上下、附着点要能还原。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Visibility Metrics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02" y="15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单指标五档 0 / 0.25 / 0.5 / 0.75 / 1.0。模块分就是这一档。标准 T2I 开场白不计罚。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4702" y="2380000"/>
          <a:ext cx="10879999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789"/>
                <a:gridCol w="9620210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</a:t>
                      </a:r>
                      <a:endParaRPr sz="1200" b="1" i="0">
                        <a:solidFill>
                          <a:srgbClr val="1A7A7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可见主体（廓形 / 品类 / 层次 / 主色 / 关键工艺 / 可见配件）始终居前且占主导；隐藏信息只作轻量补充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8F1F0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1200" b="1" i="0">
                        <a:solidFill>
                          <a:srgbClr val="1A7A7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可见主体明确优先；最多 1 处轻量氛围句，不分散生图焦点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8F1F0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</a:t>
                      </a:r>
                      <a:endParaRPr sz="1200" b="1" i="0">
                        <a:solidFill>
                          <a:srgbClr val="1A7A7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氛围 / 姿态 / 过渡铺垫占明显篇幅，或低可见细节与主体争抢；或可见事实重复堆砌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8F1F0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</a:t>
                      </a:r>
                      <a:endParaRPr sz="1200" b="1" i="0">
                        <a:solidFill>
                          <a:srgbClr val="1A7A7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姿态、抽象场域 / 身份评论喧宾夺主；或 ≥3 处沙龙 / 漫步 / 仿佛 / 暗示类句稀释可见主体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8F1F0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7A7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</a:t>
                      </a:r>
                      <a:endParaRPr sz="1200" b="1" i="0">
                        <a:solidFill>
                          <a:srgbClr val="1A7A7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BE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几乎不以可见服装为主体；非成像叙述淹没成像信息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8F1F0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4702" y="500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硬封顶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 / 走位占显著篇幅 → 最高 0.5；非成像评论明显多于可见事实 → 最高 0.25。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Generation Metrics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702" y="1580000"/>
            <a:ext cx="10880000" cy="62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五档 1.0 / 0.75 / 0.5 / 0.25 / 0.0。适用指标取平均。生图适配始终计；左右、空间只在用得上时计。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4702" y="2280000"/>
          <a:ext cx="1088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200"/>
                <a:gridCol w="3372800"/>
                <a:gridCol w="3264000"/>
                <a:gridCol w="3264000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生图适配（始终）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左右一致性（有左右差）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空间关系（有空间关系）</a:t>
                      </a:r>
                      <a:endParaRPr sz="11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</a:t>
                      </a:r>
                      <a:endParaRPr sz="1100" b="1" i="0">
                        <a:solidFill>
                          <a:srgbClr val="C278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几乎可直接作为生图 prompt，可见事实充分可成像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主干左右差有设计逻辑，且已收束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内外、上下、附着点可还原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1100" b="1" i="0">
                        <a:solidFill>
                          <a:srgbClr val="C278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轻微整理即可用；可见事实为主，最多 1 句氛围收尾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主干左右差已对齐，仅轻度含糊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主层次清楚，个别附着点略含糊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</a:t>
                      </a:r>
                      <a:endParaRPr sz="1100" b="1" i="0">
                        <a:solidFill>
                          <a:srgbClr val="C278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可见事实与评论 / 姿态各占一半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仅配饰轻度左右差，主干衣裤鞋已统一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层次大体清楚，但固定点含糊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</a:t>
                      </a:r>
                      <a:endParaRPr sz="1100" b="1" i="0">
                        <a:solidFill>
                          <a:srgbClr val="C278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抽象评论或姿态指令为主，可见事实偏少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多处主干左右对撞，未合并也未删除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层次或束系含糊，难以成像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278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</a:t>
                      </a:r>
                      <a:endParaRPr sz="1100" b="1" i="0">
                        <a:solidFill>
                          <a:srgbClr val="C278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DD9B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无法从文本稳定生成可见造型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左右互斥无法收束，无法稳定生成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空间关系混乱，无法还原穿戴</a:t>
                      </a:r>
                      <a:endParaRPr sz="11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8F1E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4702" y="490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硬封顶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 / 走位占显著篇幅 → 生图适配最高 0.5；可见事实稀疏且抽象评论为主 → 最高 0.25。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1. </a:t>
            </a:r>
            <a:r>
              <a:rPr sz="3200" b="1" i="0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Binding, Language, Structure</a:t>
            </a:r>
            <a:endParaRPr sz="3200" b="1" i="0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 ×1.0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属性绑定 ] </a:t>
            </a:r>
            <a:r>
              <a:rPr sz="16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颜色、材质、配件、结构、左右信息有没有绑到正确对象。多件衣服时不能张冠李戴。</a:t>
            </a: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语言清晰 ] </a:t>
            </a:r>
            <a:r>
              <a:rPr sz="16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数量词准不准、有没有打架；代词和省略能不能一次读懂，不用回头找主语。</a:t>
            </a: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结构清晰 ] </a:t>
            </a:r>
            <a:r>
              <a:rPr sz="16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按「主体 → 廓形 → 材质颜色 → 配件」往下写。多件衣服时同一件的属性写在一起，层次先交代再分述。不评段落数或列表排版。</a:t>
            </a: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上限 ] </a:t>
            </a:r>
            <a:r>
              <a:rPr sz="16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属性绑定模块分 &lt; 0.5 时，整条质量有效分 Q 最高只能到 0.6。绑错了，不允许靠设计价值把质量轴拉很高。</a:t>
            </a:r>
            <a:endParaRPr sz="16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Binding Metrics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A3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702" y="15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五档 1.0 / 0.75 / 0.5 / 0.25 / 0.0。两指标共用。实体绑定始终计；多单品绑定只在多件衣服时计，适用的取平均。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4702" y="2380000"/>
          <a:ext cx="10879999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789"/>
                <a:gridCol w="9620210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</a:t>
                      </a:r>
                      <a:endParaRPr sz="1200" b="1" i="0">
                        <a:solidFill>
                          <a:srgbClr val="A33B5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所有属性归属清晰准确，实体、部位、层次和左右关系稳定无歧义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EBE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1200" b="1" i="0">
                        <a:solidFill>
                          <a:srgbClr val="A33B5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基本准确，仅轻微模糊或少量跨句依赖，不误导生成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EBE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</a:t>
                      </a:r>
                      <a:endParaRPr sz="1200" b="1" i="0">
                        <a:solidFill>
                          <a:srgbClr val="A33B5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存在不确定归属或局部串线风险，但不影响主体理解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EBE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</a:t>
                      </a:r>
                      <a:endParaRPr sz="1200" b="1" i="0">
                        <a:solidFill>
                          <a:srgbClr val="A33B5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多处属性可能错绑，需反复解析才能判断归属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EBE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3B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</a:t>
                      </a:r>
                      <a:endParaRPr sz="1200" b="1" i="0">
                        <a:solidFill>
                          <a:srgbClr val="A33B5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5C8D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核心属性严重张冠李戴，实体归属混乱到无法稳定生成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EBEE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4702" y="500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上限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属性绑定模块分 &lt; 0.5 时，整条质量有效分 Q 最高只能到 0.6。绑错了，不允许靠设计价值把质量轴拉很高。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Language Metrics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E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07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907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702" y="15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5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五档 1.0 / 0.75 / 0.5 / 0.25 / 0.0。两指标共用。指代清晰度始终计；数量准确性有数量词时才计，适用的取平均。</a:t>
            </a:r>
            <a:endParaRPr sz="15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4702" y="2380000"/>
          <a:ext cx="10879999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789"/>
                <a:gridCol w="9620210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</a:t>
                      </a:r>
                      <a:endParaRPr sz="1200" b="1" i="0">
                        <a:solidFill>
                          <a:srgbClr val="4A7C3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数量、侧别、指代均清晰，无需回头解析主语或对象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CF1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1200" b="1" i="0">
                        <a:solidFill>
                          <a:srgbClr val="4A7C3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整体清楚，仅少量轻微模糊或局部承接略紧，不影响理解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CF1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</a:t>
                      </a:r>
                      <a:endParaRPr sz="1200" b="1" i="0">
                        <a:solidFill>
                          <a:srgbClr val="4A7C3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大意可读，但数量 / 侧别 / 指代仍有明显阅读负担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CF1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</a:t>
                      </a:r>
                      <a:endParaRPr sz="1200" b="1" i="0">
                        <a:solidFill>
                          <a:srgbClr val="4A7C3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数量或指代需反复确认，可读性明显受损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CF1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4A7C3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</a:t>
                      </a:r>
                      <a:endParaRPr sz="1200" b="1" i="0">
                        <a:solidFill>
                          <a:srgbClr val="4A7C3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CCDAC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数量、侧别、指代严重混乱，难以稳定解析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EC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fashion_prompt_optimizer_spec.json  v0.4.5</a:t>
            </a:r>
            <a:endParaRPr sz="1000" b="0" i="0">
              <a:solidFill>
                <a:srgbClr val="8A8A8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</a:rPr>
              <a:t>Structure Metrics</a:t>
            </a:r>
            <a:endParaRPr sz="3200" b="1" i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打分量规</a:t>
            </a:r>
            <a:endParaRPr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uleChip_DesignMerit"/>
          <p:cNvSpPr/>
          <p:nvPr/>
        </p:nvSpPr>
        <p:spPr>
          <a:xfrm>
            <a:off x="634702" y="90000"/>
            <a:ext cx="1783333" cy="250000"/>
          </a:xfrm>
          <a:prstGeom prst="rect">
            <a:avLst/>
          </a:prstGeom>
          <a:solidFill>
            <a:srgbClr val="D9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78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设计价值</a:t>
            </a:r>
            <a:endParaRPr sz="1100" b="1" i="0">
              <a:solidFill>
                <a:srgbClr val="6378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Chip_ConcisenessAndDensity"/>
          <p:cNvSpPr/>
          <p:nvPr/>
        </p:nvSpPr>
        <p:spPr>
          <a:xfrm>
            <a:off x="2454035" y="90000"/>
            <a:ext cx="1783333" cy="250000"/>
          </a:xfrm>
          <a:prstGeom prst="rect">
            <a:avLst/>
          </a:prstGeom>
          <a:solidFill>
            <a:srgbClr val="D5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9B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可见性</a:t>
            </a:r>
            <a:endParaRPr sz="1100" b="1" i="0">
              <a:solidFill>
                <a:srgbClr val="539B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Chip_GenerationReadiness"/>
          <p:cNvSpPr/>
          <p:nvPr/>
        </p:nvSpPr>
        <p:spPr>
          <a:xfrm>
            <a:off x="4273368" y="90000"/>
            <a:ext cx="1783333" cy="250000"/>
          </a:xfrm>
          <a:prstGeom prst="rect">
            <a:avLst/>
          </a:prstGeom>
          <a:solidFill>
            <a:srgbClr val="F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99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生成适配</a:t>
            </a:r>
            <a:endParaRPr sz="1100" b="1" i="0">
              <a:solidFill>
                <a:srgbClr val="D199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oduleChip_BindingAccuracy"/>
          <p:cNvSpPr/>
          <p:nvPr/>
        </p:nvSpPr>
        <p:spPr>
          <a:xfrm>
            <a:off x="6092701" y="90000"/>
            <a:ext cx="1783333" cy="250000"/>
          </a:xfrm>
          <a:prstGeom prst="rect">
            <a:avLst/>
          </a:prstGeom>
          <a:solidFill>
            <a:srgbClr val="EE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6C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属性绑定</a:t>
            </a:r>
            <a:endParaRPr sz="1100" b="1" i="0">
              <a:solidFill>
                <a:srgbClr val="BA6C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oduleChip_LanguageClarity"/>
          <p:cNvSpPr/>
          <p:nvPr/>
        </p:nvSpPr>
        <p:spPr>
          <a:xfrm>
            <a:off x="7912034" y="90000"/>
            <a:ext cx="1783333" cy="250000"/>
          </a:xfrm>
          <a:prstGeom prst="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79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语言清晰</a:t>
            </a:r>
            <a:endParaRPr sz="1100" b="1" i="0">
              <a:solidFill>
                <a:srgbClr val="779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Chip_StructuralClarity"/>
          <p:cNvSpPr/>
          <p:nvPr/>
        </p:nvSpPr>
        <p:spPr>
          <a:xfrm>
            <a:off x="9731367" y="90000"/>
            <a:ext cx="1783333" cy="2500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0000" tIns="20000" rIns="4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结构清晰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702" y="1580000"/>
            <a:ext cx="10880000" cy="62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怎么打分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五档 1.0 / 0.75 / 0.5 / 0.25 / 0.0。信息顺序始终计；层级单品聚合只在多件衣服时计，适用的取平均。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4702" y="2280000"/>
          <a:ext cx="1088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800"/>
                <a:gridCol w="4787200"/>
                <a:gridCol w="4896000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信息顺序（始终）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层级单品聚合（多单品时）</a:t>
                      </a:r>
                      <a:endParaRPr sz="1200" b="1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</a:t>
                      </a:r>
                      <a:endParaRPr sz="1200" b="1" i="0">
                        <a:solidFill>
                          <a:srgbClr val="6B4C9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主体 → 廓形 → 材质颜色 → 配件，主干先立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按件或按层分述，无跨件穿插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1200" b="1" i="0">
                        <a:solidFill>
                          <a:srgbClr val="6B4C9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主线清楚，最多 1 处局部逆序或压缩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整体按件可分，仅少量属性交叉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</a:t>
                      </a:r>
                      <a:endParaRPr sz="1200" b="1" i="0">
                        <a:solidFill>
                          <a:srgbClr val="6B4C9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材质 / 配件与主体穿插，尚可整理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2–3 处跨件穿插，需来回对照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</a:t>
                      </a:r>
                      <a:endParaRPr sz="1200" b="1" i="0">
                        <a:solidFill>
                          <a:srgbClr val="6B4C9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配件 / 评论先于主干，或层次滞后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频繁交错，层次不清或滞后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6B4C9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</a:t>
                      </a:r>
                      <a:endParaRPr sz="1200" b="1" i="0">
                        <a:solidFill>
                          <a:srgbClr val="6B4C9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D5C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无清晰主干递进，无法还原结构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无法判断属性属于哪一件 / 哪一层</a:t>
                      </a:r>
                      <a:endParaRPr sz="1200" b="0" i="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0EDF4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4702" y="500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不评什么 ] </a:t>
            </a:r>
            <a:r>
              <a:rPr sz="1400" b="0" i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不评段落数、分节标题或列表排版。只评信息层级与归属。</a:t>
            </a:r>
            <a:endParaRPr sz="1400" b="0" i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067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7525" y="157480"/>
            <a:ext cx="5619750" cy="1124585"/>
          </a:xfrm>
          <a:prstGeom prst="rect">
            <a:avLst/>
          </a:prstGeom>
        </p:spPr>
        <p:txBody>
          <a:bodyPr wrap="square">
            <a:noAutofit/>
          </a:bodyPr>
          <a:p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J024-4-1"/>
          <p:cNvSpPr/>
          <p:nvPr>
            <p:custDataLst>
              <p:tags r:id="rId1"/>
            </p:custDataLst>
          </p:nvPr>
        </p:nvSpPr>
        <p:spPr>
          <a:xfrm>
            <a:off x="4327525" y="1204595"/>
            <a:ext cx="5471795" cy="5238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825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、使用Qwen2.5 7B模型，仅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负责执行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K路并行改写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、改写模型的输入只有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description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的文字部分（评分器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同理）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SJ024-4-2"/>
          <p:cNvSpPr txBox="1"/>
          <p:nvPr>
            <p:custDataLst>
              <p:tags r:id="rId2"/>
            </p:custDataLst>
          </p:nvPr>
        </p:nvSpPr>
        <p:spPr>
          <a:xfrm>
            <a:off x="4327268" y="813438"/>
            <a:ext cx="2772000" cy="396000"/>
          </a:xfrm>
          <a:prstGeom prst="snipRoundRect">
            <a:avLst/>
          </a:prstGeom>
          <a:solidFill>
            <a:schemeClr val="accent1"/>
          </a:solidFill>
        </p:spPr>
        <p:txBody>
          <a:bodyPr wrap="square" lIns="252000" anchor="ctr">
            <a:noAutofit/>
          </a:bodyPr>
          <a:lstStyle/>
          <a:p>
            <a:pPr>
              <a:buNone/>
            </a:pPr>
            <a:r>
              <a:rPr lang="zh-CN" altLang="en-US" i="0" dirty="0">
                <a:solidFill>
                  <a:schemeClr val="bg1"/>
                </a:solidFill>
                <a:effectLst/>
                <a:latin typeface="+mj-ea"/>
                <a:ea typeface="+mj-ea"/>
                <a:cs typeface="OPPOSans M" panose="00020600040101010101" charset="-122"/>
              </a:rPr>
              <a:t>改写器</a:t>
            </a:r>
            <a:endParaRPr lang="zh-CN" altLang="en-US" i="0" dirty="0">
              <a:solidFill>
                <a:schemeClr val="bg1"/>
              </a:solidFill>
              <a:effectLst/>
              <a:latin typeface="+mj-ea"/>
              <a:ea typeface="+mj-ea"/>
              <a:cs typeface="OPPOSans M" panose="00020600040101010101" charset="-122"/>
            </a:endParaRPr>
          </a:p>
        </p:txBody>
      </p:sp>
      <p:sp>
        <p:nvSpPr>
          <p:cNvPr id="9" name="SJ024-5-1"/>
          <p:cNvSpPr/>
          <p:nvPr>
            <p:custDataLst>
              <p:tags r:id="rId3"/>
            </p:custDataLst>
          </p:nvPr>
        </p:nvSpPr>
        <p:spPr>
          <a:xfrm>
            <a:off x="4326890" y="2245360"/>
            <a:ext cx="5471795" cy="6280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825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、使用Qwen2.5 7B模型，但是冻结模型的基座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(参数、温度锁死)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、引入前序调整好的评分规则，输入到模型当中，作为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指导评分的参考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依据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SJ024-5-2"/>
          <p:cNvSpPr txBox="1"/>
          <p:nvPr>
            <p:custDataLst>
              <p:tags r:id="rId4"/>
            </p:custDataLst>
          </p:nvPr>
        </p:nvSpPr>
        <p:spPr>
          <a:xfrm>
            <a:off x="4326633" y="1844105"/>
            <a:ext cx="2772000" cy="396000"/>
          </a:xfrm>
          <a:prstGeom prst="snipRoundRect">
            <a:avLst/>
          </a:prstGeom>
          <a:solidFill>
            <a:schemeClr val="accent1"/>
          </a:solidFill>
        </p:spPr>
        <p:txBody>
          <a:bodyPr wrap="square" lIns="252000" anchor="ctr">
            <a:noAutofit/>
          </a:bodyPr>
          <a:lstStyle/>
          <a:p>
            <a:pPr>
              <a:buNone/>
            </a:pPr>
            <a:r>
              <a:rPr lang="zh-CN" altLang="en-US" i="0" dirty="0">
                <a:solidFill>
                  <a:schemeClr val="bg1"/>
                </a:solidFill>
                <a:effectLst/>
                <a:latin typeface="+mj-ea"/>
                <a:ea typeface="+mj-ea"/>
                <a:cs typeface="OPPOSans M" panose="00020600040101010101" charset="-122"/>
              </a:rPr>
              <a:t>评分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+mj-ea"/>
                <a:ea typeface="+mj-ea"/>
                <a:cs typeface="OPPOSans M" panose="00020600040101010101" charset="-122"/>
              </a:rPr>
              <a:t>器</a:t>
            </a:r>
            <a:endParaRPr lang="zh-CN" altLang="en-US" i="0" dirty="0">
              <a:solidFill>
                <a:schemeClr val="bg1"/>
              </a:solidFill>
              <a:effectLst/>
              <a:latin typeface="+mj-ea"/>
              <a:ea typeface="+mj-ea"/>
              <a:cs typeface="OPPOSans M" panose="00020600040101010101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5"/>
          <a:srcRect l="23390" r="24898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sp>
        <p:nvSpPr>
          <p:cNvPr id="15" name="SJ024-2"/>
          <p:cNvSpPr txBox="1"/>
          <p:nvPr>
            <p:custDataLst>
              <p:tags r:id="rId6"/>
            </p:custDataLst>
          </p:nvPr>
        </p:nvSpPr>
        <p:spPr>
          <a:xfrm>
            <a:off x="4327525" y="196215"/>
            <a:ext cx="5274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内容导入：改写器和评分器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SJ025-5"/>
          <p:cNvSpPr txBox="1"/>
          <p:nvPr>
            <p:custDataLst>
              <p:tags r:id="rId7"/>
            </p:custDataLst>
          </p:nvPr>
        </p:nvSpPr>
        <p:spPr>
          <a:xfrm>
            <a:off x="4327645" y="2949892"/>
            <a:ext cx="3600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01.构建语料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326890" y="3424555"/>
            <a:ext cx="5469255" cy="2656205"/>
            <a:chOff x="6814" y="5393"/>
            <a:chExt cx="8613" cy="4183"/>
          </a:xfrm>
        </p:grpSpPr>
        <p:sp>
          <p:nvSpPr>
            <p:cNvPr id="17" name="SJ012-1"/>
            <p:cNvSpPr/>
            <p:nvPr/>
          </p:nvSpPr>
          <p:spPr>
            <a:xfrm>
              <a:off x="6814" y="5393"/>
              <a:ext cx="8613" cy="4183"/>
            </a:xfrm>
            <a:prstGeom prst="roundRect">
              <a:avLst>
                <a:gd name="adj" fmla="val 2633"/>
              </a:avLst>
            </a:prstGeom>
            <a:solidFill>
              <a:schemeClr val="bg1"/>
            </a:solidFill>
            <a:ln w="825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OPPOSans M" panose="00020600040101010101" charset="-122"/>
              </a:endParaRPr>
            </a:p>
          </p:txBody>
        </p:sp>
        <p:sp>
          <p:nvSpPr>
            <p:cNvPr id="23" name="SJ012-5"/>
            <p:cNvSpPr/>
            <p:nvPr/>
          </p:nvSpPr>
          <p:spPr>
            <a:xfrm>
              <a:off x="6933" y="5496"/>
              <a:ext cx="8374" cy="1471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82" name="SJ012-13"/>
            <p:cNvSpPr txBox="1"/>
            <p:nvPr/>
          </p:nvSpPr>
          <p:spPr>
            <a:xfrm>
              <a:off x="7184" y="5629"/>
              <a:ext cx="7943" cy="167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取原逆解析生成的79条高分正面text_description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取原生成模型流水线，生成的16条设计平庸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text_description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它们分别作为正面样本和负面样本投入到我们的语料库中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作为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改写依据</a:t>
              </a:r>
              <a:endPara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SJ012-5"/>
            <p:cNvSpPr/>
            <p:nvPr/>
          </p:nvSpPr>
          <p:spPr>
            <a:xfrm>
              <a:off x="6933" y="7740"/>
              <a:ext cx="8374" cy="1714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20" name="SJ012-13"/>
            <p:cNvSpPr txBox="1"/>
            <p:nvPr/>
          </p:nvSpPr>
          <p:spPr>
            <a:xfrm>
              <a:off x="7184" y="7729"/>
              <a:ext cx="8030" cy="183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回答疑问：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为什么只有这些数据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高质量逆解析早期只针对79条香奈儿的2026进行了处理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16条负面样本也是使用相同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春夏设计主题进行了生成操作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None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正负样本共同基于同一设计主题，因此支持SFT学习与GRPO流程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1" name="圆角矩形 20"/>
          <p:cNvSpPr/>
          <p:nvPr/>
        </p:nvSpPr>
        <p:spPr>
          <a:xfrm>
            <a:off x="462280" y="1212215"/>
            <a:ext cx="2833370" cy="73533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067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7525" y="157480"/>
            <a:ext cx="5619750" cy="1124585"/>
          </a:xfrm>
          <a:prstGeom prst="rect">
            <a:avLst/>
          </a:prstGeom>
        </p:spPr>
        <p:txBody>
          <a:bodyPr wrap="square">
            <a:noAutofit/>
          </a:bodyPr>
          <a:p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1"/>
          <a:srcRect l="23390" r="24898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sp>
        <p:nvSpPr>
          <p:cNvPr id="16" name="SJ025-5"/>
          <p:cNvSpPr txBox="1"/>
          <p:nvPr>
            <p:custDataLst>
              <p:tags r:id="rId2"/>
            </p:custDataLst>
          </p:nvPr>
        </p:nvSpPr>
        <p:spPr>
          <a:xfrm>
            <a:off x="4327525" y="464820"/>
            <a:ext cx="5072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路采样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评分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76250" y="1969135"/>
            <a:ext cx="2927350" cy="75438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4327525" y="1115060"/>
            <a:ext cx="5469255" cy="4873625"/>
            <a:chOff x="6814" y="5393"/>
            <a:chExt cx="8613" cy="7675"/>
          </a:xfrm>
        </p:grpSpPr>
        <p:sp>
          <p:nvSpPr>
            <p:cNvPr id="17" name="SJ012-1"/>
            <p:cNvSpPr/>
            <p:nvPr/>
          </p:nvSpPr>
          <p:spPr>
            <a:xfrm>
              <a:off x="6814" y="5393"/>
              <a:ext cx="8613" cy="7675"/>
            </a:xfrm>
            <a:prstGeom prst="roundRect">
              <a:avLst>
                <a:gd name="adj" fmla="val 2633"/>
              </a:avLst>
            </a:prstGeom>
            <a:solidFill>
              <a:schemeClr val="bg1"/>
            </a:solidFill>
            <a:ln w="825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OPPOSans M" panose="00020600040101010101" charset="-122"/>
              </a:endParaRPr>
            </a:p>
          </p:txBody>
        </p:sp>
        <p:sp>
          <p:nvSpPr>
            <p:cNvPr id="23" name="SJ012-5"/>
            <p:cNvSpPr/>
            <p:nvPr/>
          </p:nvSpPr>
          <p:spPr>
            <a:xfrm>
              <a:off x="6933" y="8195"/>
              <a:ext cx="8374" cy="2038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82" name="SJ012-13"/>
            <p:cNvSpPr txBox="1"/>
            <p:nvPr/>
          </p:nvSpPr>
          <p:spPr>
            <a:xfrm>
              <a:off x="7229" y="8273"/>
              <a:ext cx="7986" cy="188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改写操作的进行：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、每一组：同原文改写新增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K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条，程序线程同步进行改写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、同一组改写依赖一个原文，以及可以被控制的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统一提示词辅助改写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、改写器温度不共用固定值，模型温度、参数同步进行调整，确保生成的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K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路改写内容存在差异化。让评分模型去尝试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捕捉差异，体现在分数</a:t>
              </a:r>
              <a:b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endPara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SJ012-5"/>
            <p:cNvSpPr/>
            <p:nvPr/>
          </p:nvSpPr>
          <p:spPr>
            <a:xfrm>
              <a:off x="6933" y="10611"/>
              <a:ext cx="8374" cy="2090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20" name="SJ012-13"/>
            <p:cNvSpPr txBox="1"/>
            <p:nvPr/>
          </p:nvSpPr>
          <p:spPr>
            <a:xfrm>
              <a:off x="7184" y="10689"/>
              <a:ext cx="8030" cy="183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回答疑问：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改写的描述评分是可靠的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评分嘛？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因为评分器的模型参数是完全冻结的，因此它对好坏的评价是一致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我们前序优化过程中已经基于逆解析图的优势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生成图的劣势，综合调整了评分的策略，它在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Design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维度上现在能够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挖掘到优秀设计的加分</a:t>
              </a:r>
              <a:endPara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6" name="SJ012-5"/>
          <p:cNvSpPr/>
          <p:nvPr/>
        </p:nvSpPr>
        <p:spPr>
          <a:xfrm>
            <a:off x="4403090" y="1443990"/>
            <a:ext cx="5317490" cy="1160780"/>
          </a:xfrm>
          <a:prstGeom prst="roundRect">
            <a:avLst>
              <a:gd name="adj" fmla="val 6458"/>
            </a:avLst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OPPOSans M" panose="00020600040101010101" charset="-122"/>
              <a:cs typeface="OPPOSans M" panose="00020600040101010101" charset="-122"/>
            </a:endParaRPr>
          </a:p>
        </p:txBody>
      </p:sp>
      <p:sp>
        <p:nvSpPr>
          <p:cNvPr id="11" name="SJ012-13"/>
          <p:cNvSpPr txBox="1"/>
          <p:nvPr/>
        </p:nvSpPr>
        <p:spPr>
          <a:xfrm>
            <a:off x="4591050" y="1443990"/>
            <a:ext cx="4845050" cy="106553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+mn-ea"/>
              </a:defRPr>
            </a:lvl1pPr>
          </a:lstStyle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为什么要执行改写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给后面的训练过程拼凑出同一道题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可能的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不同答案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如果没有不同的答案作为训练数据支撑：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阶段 A 的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SFT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模仿和阶段 B 的 GRPO 都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运转不起来。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432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1"/>
          <a:srcRect l="23390" r="24898"/>
          <a:stretch>
            <a:fillRect/>
          </a:stretch>
        </p:blipFill>
        <p:spPr>
          <a:xfrm>
            <a:off x="6350" y="1182370"/>
            <a:ext cx="2759710" cy="4004310"/>
          </a:xfrm>
          <a:prstGeom prst="rect">
            <a:avLst/>
          </a:prstGeom>
        </p:spPr>
      </p:pic>
      <p:sp>
        <p:nvSpPr>
          <p:cNvPr id="5" name="SJ025-5"/>
          <p:cNvSpPr txBox="1"/>
          <p:nvPr>
            <p:custDataLst>
              <p:tags r:id="rId2"/>
            </p:custDataLst>
          </p:nvPr>
        </p:nvSpPr>
        <p:spPr>
          <a:xfrm>
            <a:off x="3531235" y="464820"/>
            <a:ext cx="60521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评分部分：质量与长度的正交化训练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图片 11" descr="333"/>
          <p:cNvPicPr>
            <a:picLocks noChangeAspect="1"/>
          </p:cNvPicPr>
          <p:nvPr/>
        </p:nvPicPr>
        <p:blipFill>
          <a:blip r:embed="rId3"/>
          <a:srcRect l="11545"/>
          <a:stretch>
            <a:fillRect/>
          </a:stretch>
        </p:blipFill>
        <p:spPr>
          <a:xfrm>
            <a:off x="2766060" y="942340"/>
            <a:ext cx="4242435" cy="359727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980555" y="1182370"/>
            <a:ext cx="4804333" cy="5407862"/>
            <a:chOff x="6815" y="1756"/>
            <a:chExt cx="8613" cy="9473"/>
          </a:xfrm>
        </p:grpSpPr>
        <p:grpSp>
          <p:nvGrpSpPr>
            <p:cNvPr id="22" name="组合 21"/>
            <p:cNvGrpSpPr/>
            <p:nvPr/>
          </p:nvGrpSpPr>
          <p:grpSpPr>
            <a:xfrm>
              <a:off x="6815" y="1756"/>
              <a:ext cx="8613" cy="9473"/>
              <a:chOff x="6814" y="5393"/>
              <a:chExt cx="8613" cy="9473"/>
            </a:xfrm>
          </p:grpSpPr>
          <p:sp>
            <p:nvSpPr>
              <p:cNvPr id="17" name="SJ012-1"/>
              <p:cNvSpPr/>
              <p:nvPr/>
            </p:nvSpPr>
            <p:spPr>
              <a:xfrm>
                <a:off x="6814" y="5393"/>
                <a:ext cx="8613" cy="9473"/>
              </a:xfrm>
              <a:prstGeom prst="roundRect">
                <a:avLst>
                  <a:gd name="adj" fmla="val 2633"/>
                </a:avLst>
              </a:prstGeom>
              <a:solidFill>
                <a:schemeClr val="bg1"/>
              </a:solidFill>
              <a:ln w="8255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OPPOSans M" panose="00020600040101010101" charset="-122"/>
                </a:endParaRPr>
              </a:p>
            </p:txBody>
          </p:sp>
          <p:sp>
            <p:nvSpPr>
              <p:cNvPr id="23" name="SJ012-5"/>
              <p:cNvSpPr/>
              <p:nvPr/>
            </p:nvSpPr>
            <p:spPr>
              <a:xfrm>
                <a:off x="6934" y="7939"/>
                <a:ext cx="8374" cy="3320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  <p:sp>
            <p:nvSpPr>
              <p:cNvPr id="82" name="SJ012-13"/>
              <p:cNvSpPr txBox="1"/>
              <p:nvPr/>
            </p:nvSpPr>
            <p:spPr>
              <a:xfrm>
                <a:off x="7230" y="8017"/>
                <a:ext cx="7986" cy="325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1400">
                    <a:latin typeface="+mn-ea"/>
                  </a:defRPr>
                </a:lvl1pPr>
              </a:lstStyle>
              <a:p>
                <a:r>
                  <a:rPr lang="zh-CN" altLang="en-US" sz="10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训练双头</a:t>
                </a:r>
                <a:r>
                  <a:rPr lang="en-US" altLang="zh-CN" sz="10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RM</a:t>
                </a:r>
                <a:r>
                  <a:rPr lang="zh-CN" altLang="en-US" sz="10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：</a:t>
                </a:r>
                <a:b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、评分器的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骨干仍是冻结的基座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7B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，骨干上面只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训练两个无偏置线性头。</a:t>
                </a:r>
                <a:endPara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质量头输出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r_Q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，长度头输出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r_L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，原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content得分</a:t>
                </a:r>
                <a:r>
                  <a:rPr lang="zh-CN" altLang="en-US" sz="10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= r_Q + r_L。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双头分别输出来进行正交分离</a:t>
                </a:r>
                <a:b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、训练时的排序仍然按二者之和。</a:t>
                </a:r>
                <a:endPara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为什么不只用质量头做比较：因为质量头会偷学「写长也能赢」</a:t>
                </a:r>
                <a:endPara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4、推动两个相关项：同一批里会算两个相关。质量头和对数长度的相关要尽量低，这样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r_Q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不能靠字数涨；长度头和对数长度的相关要尽量高，让冗长部分由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r_L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体现。</a:t>
                </a:r>
                <a:b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endParaRPr lang="zh-CN" altLang="en-US" sz="10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8" name="SJ012-5"/>
              <p:cNvSpPr/>
              <p:nvPr/>
            </p:nvSpPr>
            <p:spPr>
              <a:xfrm>
                <a:off x="6934" y="11440"/>
                <a:ext cx="8374" cy="1221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  <p:sp>
            <p:nvSpPr>
              <p:cNvPr id="20" name="SJ012-13"/>
              <p:cNvSpPr txBox="1"/>
              <p:nvPr/>
            </p:nvSpPr>
            <p:spPr>
              <a:xfrm>
                <a:off x="7186" y="11450"/>
                <a:ext cx="8030" cy="95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1400">
                    <a:latin typeface="+mn-ea"/>
                  </a:defRPr>
                </a:lvl1pPr>
              </a:lstStyle>
              <a:p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RM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训练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完成后：</a:t>
                </a:r>
                <a:endPara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回头给全部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K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路样本重打分。质量头写入内容奖励，作为后面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SFT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和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GRPO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的主标量。长度头会记下来做诊断，但不再进策略梯度。</a:t>
                </a:r>
                <a:endParaRPr lang="zh-CN" altLang="en-US" sz="10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9" name="SJ012-5"/>
            <p:cNvSpPr/>
            <p:nvPr/>
          </p:nvSpPr>
          <p:spPr>
            <a:xfrm>
              <a:off x="6935" y="1950"/>
              <a:ext cx="8374" cy="2232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24" name="SJ012-13"/>
            <p:cNvSpPr txBox="1"/>
            <p:nvPr/>
          </p:nvSpPr>
          <p:spPr>
            <a:xfrm>
              <a:off x="7231" y="1950"/>
              <a:ext cx="7630" cy="18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两两配对：</a:t>
              </a:r>
              <a:b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、同一组里的有效候选拿出来，按裁判的内容主分两两比较。分高的当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chosen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，分低的当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rejected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，形成一条偏好对。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、裁判打分用的是初始评价分，不再经过任何固定的长度修正的奖励，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避免老师标签里掺进长度处理。分数几乎打平的对会丢掉，因为分差太小学不到谁更好</a:t>
              </a:r>
              <a:b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6" name="SJ012-5"/>
          <p:cNvSpPr/>
          <p:nvPr/>
        </p:nvSpPr>
        <p:spPr>
          <a:xfrm>
            <a:off x="7051675" y="5427980"/>
            <a:ext cx="4615815" cy="998855"/>
          </a:xfrm>
          <a:prstGeom prst="roundRect">
            <a:avLst>
              <a:gd name="adj" fmla="val 6458"/>
            </a:avLst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OPPOSans M" panose="00020600040101010101" charset="-122"/>
              <a:cs typeface="OPPOSans M" panose="00020600040101010101" charset="-122"/>
            </a:endParaRPr>
          </a:p>
        </p:txBody>
      </p:sp>
      <p:sp>
        <p:nvSpPr>
          <p:cNvPr id="27" name="SJ012-13"/>
          <p:cNvSpPr txBox="1"/>
          <p:nvPr/>
        </p:nvSpPr>
        <p:spPr>
          <a:xfrm>
            <a:off x="7240905" y="5427980"/>
            <a:ext cx="4426585" cy="10261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+mn-ea"/>
              </a:defRPr>
            </a:lvl1pPr>
          </a:lstStyle>
          <a:p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回答疑问：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r_L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部分后续还会被用到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嘛？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不会。长度信息在双头训练完成后即剥离，不在纳入到后续的模型改写模型训练过程当中，它的剥离使得改写的评分更具客观性，更能反应内容密度的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524635" y="5331460"/>
            <a:ext cx="5284470" cy="737870"/>
            <a:chOff x="1278" y="8396"/>
            <a:chExt cx="8322" cy="1162"/>
          </a:xfrm>
        </p:grpSpPr>
        <p:sp>
          <p:nvSpPr>
            <p:cNvPr id="30" name="圆角矩形 29"/>
            <p:cNvSpPr/>
            <p:nvPr/>
          </p:nvSpPr>
          <p:spPr>
            <a:xfrm>
              <a:off x="1278" y="8396"/>
              <a:ext cx="8322" cy="116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b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570" y="8398"/>
              <a:ext cx="787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先蒸馏</a:t>
              </a:r>
              <a:r>
                <a:rPr lang="zh-CN" altLang="en-US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成一个能把质量和长度拆开的奖励模型</a:t>
              </a:r>
              <a:br>
                <a:rPr lang="zh-CN" altLang="en-US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zh-CN" altLang="en-US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再只把质量信号交给后面的策略训练。</a:t>
              </a:r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3" name="SJ014-9"/>
          <p:cNvGrpSpPr/>
          <p:nvPr/>
        </p:nvGrpSpPr>
        <p:grpSpPr>
          <a:xfrm rot="16200000">
            <a:off x="2898500" y="2066034"/>
            <a:ext cx="640931" cy="361602"/>
            <a:chOff x="8729372" y="5306510"/>
            <a:chExt cx="640931" cy="361602"/>
          </a:xfrm>
        </p:grpSpPr>
        <p:sp>
          <p:nvSpPr>
            <p:cNvPr id="34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5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sp>
        <p:nvSpPr>
          <p:cNvPr id="21" name="圆角矩形 20"/>
          <p:cNvSpPr/>
          <p:nvPr/>
        </p:nvSpPr>
        <p:spPr>
          <a:xfrm>
            <a:off x="6350" y="1896745"/>
            <a:ext cx="2827020" cy="68961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067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7525" y="157480"/>
            <a:ext cx="5619750" cy="1124585"/>
          </a:xfrm>
          <a:prstGeom prst="rect">
            <a:avLst/>
          </a:prstGeom>
        </p:spPr>
        <p:txBody>
          <a:bodyPr wrap="square">
            <a:noAutofit/>
          </a:bodyPr>
          <a:p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1"/>
          <a:srcRect l="23390" r="24898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465455" y="3579495"/>
            <a:ext cx="2827020" cy="68961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SJ025-5"/>
          <p:cNvSpPr txBox="1"/>
          <p:nvPr>
            <p:custDataLst>
              <p:tags r:id="rId2"/>
            </p:custDataLst>
          </p:nvPr>
        </p:nvSpPr>
        <p:spPr>
          <a:xfrm>
            <a:off x="3963035" y="464820"/>
            <a:ext cx="5072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SFT 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全流程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3" name="SJ014-9"/>
          <p:cNvGrpSpPr/>
          <p:nvPr/>
        </p:nvGrpSpPr>
        <p:grpSpPr>
          <a:xfrm rot="16200000">
            <a:off x="3329030" y="3767834"/>
            <a:ext cx="640931" cy="361602"/>
            <a:chOff x="8729372" y="5306510"/>
            <a:chExt cx="640931" cy="361602"/>
          </a:xfrm>
        </p:grpSpPr>
        <p:sp>
          <p:nvSpPr>
            <p:cNvPr id="34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5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pic>
        <p:nvPicPr>
          <p:cNvPr id="6" name="图片 5" descr="444"/>
          <p:cNvPicPr>
            <a:picLocks noChangeAspect="1"/>
          </p:cNvPicPr>
          <p:nvPr/>
        </p:nvPicPr>
        <p:blipFill>
          <a:blip r:embed="rId3"/>
          <a:srcRect l="15093" r="14220"/>
          <a:stretch>
            <a:fillRect/>
          </a:stretch>
        </p:blipFill>
        <p:spPr>
          <a:xfrm>
            <a:off x="3741420" y="1975485"/>
            <a:ext cx="2607945" cy="439610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580505" y="2024380"/>
            <a:ext cx="4804333" cy="3796293"/>
            <a:chOff x="6815" y="1756"/>
            <a:chExt cx="8613" cy="6650"/>
          </a:xfrm>
        </p:grpSpPr>
        <p:grpSp>
          <p:nvGrpSpPr>
            <p:cNvPr id="22" name="组合 21"/>
            <p:cNvGrpSpPr/>
            <p:nvPr/>
          </p:nvGrpSpPr>
          <p:grpSpPr>
            <a:xfrm>
              <a:off x="6815" y="1756"/>
              <a:ext cx="8613" cy="6650"/>
              <a:chOff x="6814" y="5393"/>
              <a:chExt cx="8613" cy="6650"/>
            </a:xfrm>
          </p:grpSpPr>
          <p:sp>
            <p:nvSpPr>
              <p:cNvPr id="17" name="SJ012-1"/>
              <p:cNvSpPr/>
              <p:nvPr/>
            </p:nvSpPr>
            <p:spPr>
              <a:xfrm>
                <a:off x="6814" y="5393"/>
                <a:ext cx="8613" cy="6650"/>
              </a:xfrm>
              <a:prstGeom prst="roundRect">
                <a:avLst>
                  <a:gd name="adj" fmla="val 2633"/>
                </a:avLst>
              </a:prstGeom>
              <a:solidFill>
                <a:schemeClr val="bg1"/>
              </a:solidFill>
              <a:ln w="8255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OPPOSans M" panose="00020600040101010101" charset="-122"/>
                </a:endParaRPr>
              </a:p>
            </p:txBody>
          </p:sp>
          <p:sp>
            <p:nvSpPr>
              <p:cNvPr id="18" name="SJ012-5"/>
              <p:cNvSpPr/>
              <p:nvPr/>
            </p:nvSpPr>
            <p:spPr>
              <a:xfrm>
                <a:off x="6934" y="10392"/>
                <a:ext cx="8374" cy="1264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  <p:sp>
            <p:nvSpPr>
              <p:cNvPr id="20" name="SJ012-13"/>
              <p:cNvSpPr txBox="1"/>
              <p:nvPr/>
            </p:nvSpPr>
            <p:spPr>
              <a:xfrm>
                <a:off x="7186" y="10570"/>
                <a:ext cx="8030" cy="95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1400">
                    <a:latin typeface="+mn-ea"/>
                  </a:defRPr>
                </a:lvl1pPr>
              </a:lstStyle>
              <a:p>
                <a:r>
                  <a:rPr lang="zh-CN" altLang="en-US" sz="1200">
                    <a:sym typeface="+mn-ea"/>
                  </a:rPr>
                  <a:t>训练</a:t>
                </a:r>
                <a:r>
                  <a:rPr lang="en-US" altLang="zh-CN" sz="1200">
                    <a:sym typeface="+mn-ea"/>
                  </a:rPr>
                  <a:t> loss </a:t>
                </a:r>
                <a:r>
                  <a:rPr lang="zh-CN" altLang="en-US" sz="1200">
                    <a:sym typeface="+mn-ea"/>
                  </a:rPr>
                  <a:t>的指数滑动平均；引入训练早停，</a:t>
                </a:r>
                <a:r>
                  <a:rPr lang="zh-CN" altLang="en-US" sz="1200">
                    <a:solidFill>
                      <a:srgbClr val="FF0000"/>
                    </a:solidFill>
                    <a:sym typeface="+mn-ea"/>
                  </a:rPr>
                  <a:t>确保能学到好设计的表述的同时不完全照抄</a:t>
                </a:r>
                <a:r>
                  <a:rPr lang="zh-CN" altLang="en-US" sz="1200">
                    <a:solidFill>
                      <a:srgbClr val="FF0000"/>
                    </a:solidFill>
                    <a:sym typeface="+mn-ea"/>
                  </a:rPr>
                  <a:t>使用</a:t>
                </a:r>
                <a:endParaRPr lang="zh-CN" altLang="en-US" sz="1200">
                  <a:solidFill>
                    <a:srgbClr val="FF0000"/>
                  </a:solidFill>
                  <a:sym typeface="+mn-ea"/>
                </a:endParaRPr>
              </a:p>
            </p:txBody>
          </p:sp>
          <p:sp>
            <p:nvSpPr>
              <p:cNvPr id="11" name="SJ012-5"/>
              <p:cNvSpPr/>
              <p:nvPr/>
            </p:nvSpPr>
            <p:spPr>
              <a:xfrm>
                <a:off x="6979" y="7717"/>
                <a:ext cx="8374" cy="2189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  <p:sp>
            <p:nvSpPr>
              <p:cNvPr id="12" name="SJ012-13"/>
              <p:cNvSpPr txBox="1"/>
              <p:nvPr/>
            </p:nvSpPr>
            <p:spPr>
              <a:xfrm>
                <a:off x="7095" y="7716"/>
                <a:ext cx="8121" cy="219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1400">
                    <a:latin typeface="+mn-ea"/>
                  </a:defRPr>
                </a:lvl1pPr>
              </a:lstStyle>
              <a:p>
                <a:r>
                  <a:rPr lang="zh-CN" altLang="en-US" sz="12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拼对话并掩码：</a:t>
                </a:r>
                <a:b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r>
                  <a:rPr lang="zh-CN" altLang="en-US" sz="1200">
                    <a:sym typeface="+mn-ea"/>
                  </a:rPr>
                  <a:t>加载改写器的当前本地权重。把对话套成聊天模板，拼成一整段</a:t>
                </a:r>
                <a:r>
                  <a:rPr lang="en-US" altLang="zh-CN" sz="1200">
                    <a:sym typeface="+mn-ea"/>
                  </a:rPr>
                  <a:t> token</a:t>
                </a:r>
                <a:r>
                  <a:rPr lang="zh-CN" altLang="en-US" sz="1200">
                    <a:sym typeface="+mn-ea"/>
                  </a:rPr>
                  <a:t>。然后做掩码：用户侧和系统侧的位置标签全部标成忽略，只有助手那段改写文本参与损失。模型看到原文，被要求逐</a:t>
                </a:r>
                <a:r>
                  <a:rPr lang="en-US" altLang="zh-CN" sz="1200">
                    <a:sym typeface="+mn-ea"/>
                  </a:rPr>
                  <a:t> token </a:t>
                </a:r>
                <a:r>
                  <a:rPr lang="zh-CN" altLang="en-US" sz="1200">
                    <a:solidFill>
                      <a:srgbClr val="FF0000"/>
                    </a:solidFill>
                    <a:sym typeface="+mn-ea"/>
                  </a:rPr>
                  <a:t>预测那条最佳改写</a:t>
                </a:r>
                <a:endParaRPr lang="zh-CN" altLang="en-US" sz="1200"/>
              </a:p>
              <a:p>
                <a:b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endParaRPr lang="zh-CN" altLang="en-US" sz="12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9" name="SJ012-5"/>
            <p:cNvSpPr/>
            <p:nvPr/>
          </p:nvSpPr>
          <p:spPr>
            <a:xfrm>
              <a:off x="6935" y="1950"/>
              <a:ext cx="8374" cy="1921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24" name="SJ012-13"/>
            <p:cNvSpPr txBox="1"/>
            <p:nvPr/>
          </p:nvSpPr>
          <p:spPr>
            <a:xfrm>
              <a:off x="7096" y="1951"/>
              <a:ext cx="8237" cy="181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一组 K 条里只保留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质量分最高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的那一条。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用户输入的文本是待改写原文；</a:t>
              </a: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参考文本是这条</a:t>
              </a:r>
              <a:r>
                <a:rPr lang="zh-CN" altLang="en-US" sz="1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质量分最高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改写，训练时就是要拿这个改写作为标杆。</a:t>
              </a:r>
              <a:br>
                <a:rPr lang="zh-CN" altLang="en-US" sz="1200">
                  <a:sym typeface="+mn-ea"/>
                </a:rPr>
              </a:br>
              <a:b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7" name="SJ014-9"/>
          <p:cNvGrpSpPr/>
          <p:nvPr/>
        </p:nvGrpSpPr>
        <p:grpSpPr>
          <a:xfrm rot="16200000">
            <a:off x="6079215" y="2328924"/>
            <a:ext cx="640931" cy="361602"/>
            <a:chOff x="8729372" y="5306510"/>
            <a:chExt cx="640931" cy="361602"/>
          </a:xfrm>
        </p:grpSpPr>
        <p:sp>
          <p:nvSpPr>
            <p:cNvPr id="28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29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30" name="SJ014-9"/>
          <p:cNvGrpSpPr/>
          <p:nvPr/>
        </p:nvGrpSpPr>
        <p:grpSpPr>
          <a:xfrm rot="16200000">
            <a:off x="6094455" y="3670044"/>
            <a:ext cx="640931" cy="361602"/>
            <a:chOff x="8729372" y="5306510"/>
            <a:chExt cx="640931" cy="361602"/>
          </a:xfrm>
        </p:grpSpPr>
        <p:sp>
          <p:nvSpPr>
            <p:cNvPr id="31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2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36" name="SJ014-9"/>
          <p:cNvGrpSpPr/>
          <p:nvPr/>
        </p:nvGrpSpPr>
        <p:grpSpPr>
          <a:xfrm rot="16200000">
            <a:off x="6079215" y="5098159"/>
            <a:ext cx="640931" cy="361602"/>
            <a:chOff x="8729372" y="5306510"/>
            <a:chExt cx="640931" cy="361602"/>
          </a:xfrm>
        </p:grpSpPr>
        <p:sp>
          <p:nvSpPr>
            <p:cNvPr id="37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8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606800" y="1325245"/>
            <a:ext cx="7724775" cy="491490"/>
            <a:chOff x="5660" y="1571"/>
            <a:chExt cx="12165" cy="774"/>
          </a:xfrm>
        </p:grpSpPr>
        <p:sp>
          <p:nvSpPr>
            <p:cNvPr id="39" name="圆角矩形 38"/>
            <p:cNvSpPr/>
            <p:nvPr/>
          </p:nvSpPr>
          <p:spPr>
            <a:xfrm>
              <a:off x="5660" y="1585"/>
              <a:ext cx="12165" cy="76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b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761" y="1571"/>
              <a:ext cx="11998" cy="7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简单说：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SFT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操作只针对初始态进行一轮，目标就是快速对齐好设计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的参数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 </a:t>
              </a:r>
              <a:endParaRPr lang="zh-CN" altLang="en-US">
                <a:solidFill>
                  <a:srgbClr val="FF0000"/>
                </a:solidFill>
              </a:endParaRPr>
            </a:p>
            <a:p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圆角矩形 50"/>
          <p:cNvSpPr/>
          <p:nvPr/>
        </p:nvSpPr>
        <p:spPr>
          <a:xfrm>
            <a:off x="3563620" y="1011555"/>
            <a:ext cx="7724775" cy="4832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/>
          </a:p>
        </p:txBody>
      </p:sp>
      <p:sp>
        <p:nvSpPr>
          <p:cNvPr id="9" name="SJ012-5"/>
          <p:cNvSpPr/>
          <p:nvPr/>
        </p:nvSpPr>
        <p:spPr>
          <a:xfrm>
            <a:off x="6708775" y="3350260"/>
            <a:ext cx="4671060" cy="1249680"/>
          </a:xfrm>
          <a:prstGeom prst="roundRect">
            <a:avLst>
              <a:gd name="adj" fmla="val 6458"/>
            </a:avLst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OPPOSans M" panose="00020600040101010101" charset="-122"/>
              <a:cs typeface="OPPOSans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067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1"/>
          <a:srcRect l="23390" r="24898"/>
          <a:stretch>
            <a:fillRect/>
          </a:stretch>
        </p:blipFill>
        <p:spPr>
          <a:xfrm>
            <a:off x="333375" y="1212215"/>
            <a:ext cx="3049270" cy="4422775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438785" y="4290060"/>
            <a:ext cx="2827020" cy="68961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SJ012-5"/>
          <p:cNvSpPr/>
          <p:nvPr/>
        </p:nvSpPr>
        <p:spPr>
          <a:xfrm>
            <a:off x="6582036" y="4878165"/>
            <a:ext cx="4671019" cy="721581"/>
          </a:xfrm>
          <a:prstGeom prst="roundRect">
            <a:avLst>
              <a:gd name="adj" fmla="val 6458"/>
            </a:avLst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OPPOSans M" panose="00020600040101010101" charset="-122"/>
              <a:cs typeface="OPPOSans M" panose="00020600040101010101" charset="-122"/>
            </a:endParaRPr>
          </a:p>
        </p:txBody>
      </p:sp>
      <p:sp>
        <p:nvSpPr>
          <p:cNvPr id="7" name="SJ012-13"/>
          <p:cNvSpPr txBox="1"/>
          <p:nvPr/>
        </p:nvSpPr>
        <p:spPr>
          <a:xfrm>
            <a:off x="6722602" y="4979780"/>
            <a:ext cx="4479135" cy="54518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+mn-ea"/>
              </a:defRPr>
            </a:lvl1pPr>
          </a:lstStyle>
          <a:p>
            <a:r>
              <a:rPr lang="zh-CN" altLang="en-US" sz="1200">
                <a:sym typeface="+mn-ea"/>
              </a:rPr>
              <a:t>训练</a:t>
            </a:r>
            <a:r>
              <a:rPr lang="en-US" altLang="zh-CN" sz="1200">
                <a:sym typeface="+mn-ea"/>
              </a:rPr>
              <a:t> loss </a:t>
            </a:r>
            <a:r>
              <a:rPr lang="zh-CN" altLang="en-US" sz="1200">
                <a:sym typeface="+mn-ea"/>
              </a:rPr>
              <a:t>的指数滑动平均；引入训练早停，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确保能学到好设计的表述的同时不完全照抄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使用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12" name="SJ012-13"/>
          <p:cNvSpPr txBox="1"/>
          <p:nvPr/>
        </p:nvSpPr>
        <p:spPr>
          <a:xfrm>
            <a:off x="6671842" y="3350514"/>
            <a:ext cx="4529895" cy="125020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+mn-ea"/>
              </a:defRPr>
            </a:lvl1pPr>
          </a:lstStyle>
          <a:p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拼对话并掩码：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sym typeface="+mn-ea"/>
              </a:rPr>
              <a:t>加载改写器的当前本地权重。把对话套成聊天模板，拼成一整段</a:t>
            </a:r>
            <a:r>
              <a:rPr lang="en-US" altLang="zh-CN" sz="1200">
                <a:sym typeface="+mn-ea"/>
              </a:rPr>
              <a:t> token</a:t>
            </a:r>
            <a:r>
              <a:rPr lang="zh-CN" altLang="en-US" sz="1200">
                <a:sym typeface="+mn-ea"/>
              </a:rPr>
              <a:t>。然后做掩码：用户侧和系统侧的位置标签全部标成忽略，只有助手那段改写文本参与损失。模型看到原文，被要求逐</a:t>
            </a:r>
            <a:r>
              <a:rPr lang="en-US" altLang="zh-CN" sz="1200">
                <a:sym typeface="+mn-ea"/>
              </a:rPr>
              <a:t> token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预测那条最佳改写</a:t>
            </a:r>
            <a:endParaRPr lang="zh-CN" altLang="en-US" sz="1200"/>
          </a:p>
          <a:p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SJ012-13"/>
          <p:cNvSpPr txBox="1"/>
          <p:nvPr/>
        </p:nvSpPr>
        <p:spPr>
          <a:xfrm>
            <a:off x="6671842" y="2135700"/>
            <a:ext cx="4594600" cy="10384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+mn-ea"/>
              </a:defRPr>
            </a:lvl1pPr>
          </a:lstStyle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一组 K 条里只保留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质量分最高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的那一条。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用户输入的文本是待改写原文；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参考文本是这条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质量分最高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改写，训练时就是要拿这个改写作为标杆。</a:t>
            </a:r>
            <a:br>
              <a:rPr lang="zh-CN" altLang="en-US" sz="1200">
                <a:sym typeface="+mn-ea"/>
              </a:rPr>
            </a:b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602095" y="1582420"/>
            <a:ext cx="4826635" cy="4987925"/>
            <a:chOff x="6815" y="982"/>
            <a:chExt cx="8613" cy="8737"/>
          </a:xfrm>
        </p:grpSpPr>
        <p:grpSp>
          <p:nvGrpSpPr>
            <p:cNvPr id="11" name="组合 10"/>
            <p:cNvGrpSpPr/>
            <p:nvPr/>
          </p:nvGrpSpPr>
          <p:grpSpPr>
            <a:xfrm>
              <a:off x="6815" y="982"/>
              <a:ext cx="8613" cy="8737"/>
              <a:chOff x="6814" y="4619"/>
              <a:chExt cx="8613" cy="8737"/>
            </a:xfrm>
          </p:grpSpPr>
          <p:sp>
            <p:nvSpPr>
              <p:cNvPr id="14" name="SJ012-1"/>
              <p:cNvSpPr/>
              <p:nvPr/>
            </p:nvSpPr>
            <p:spPr>
              <a:xfrm>
                <a:off x="6814" y="4619"/>
                <a:ext cx="8613" cy="8737"/>
              </a:xfrm>
              <a:prstGeom prst="roundRect">
                <a:avLst>
                  <a:gd name="adj" fmla="val 2633"/>
                </a:avLst>
              </a:prstGeom>
              <a:solidFill>
                <a:schemeClr val="bg1"/>
              </a:solidFill>
              <a:ln w="8255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OPPOSans M" panose="00020600040101010101" charset="-122"/>
                </a:endParaRPr>
              </a:p>
            </p:txBody>
          </p:sp>
          <p:sp>
            <p:nvSpPr>
              <p:cNvPr id="15" name="SJ012-5"/>
              <p:cNvSpPr/>
              <p:nvPr/>
            </p:nvSpPr>
            <p:spPr>
              <a:xfrm>
                <a:off x="7022" y="10492"/>
                <a:ext cx="8322" cy="2683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  <p:sp>
            <p:nvSpPr>
              <p:cNvPr id="16" name="SJ012-13"/>
              <p:cNvSpPr txBox="1"/>
              <p:nvPr/>
            </p:nvSpPr>
            <p:spPr>
              <a:xfrm>
                <a:off x="7185" y="10569"/>
                <a:ext cx="8030" cy="241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1400">
                    <a:latin typeface="+mn-ea"/>
                  </a:defRPr>
                </a:lvl1pPr>
              </a:lstStyle>
              <a:p>
                <a:r>
                  <a:rPr lang="zh-CN" altLang="en-US" sz="1200">
                    <a:sym typeface="+mn-ea"/>
                  </a:rPr>
                  <a:t>仅</a:t>
                </a:r>
                <a:r>
                  <a:rPr lang="en-US" altLang="zh-CN" sz="1200">
                    <a:sym typeface="+mn-ea"/>
                  </a:rPr>
                  <a:t>GRPO</a:t>
                </a:r>
                <a:r>
                  <a:rPr lang="zh-CN" altLang="en-US" sz="1200">
                    <a:sym typeface="+mn-ea"/>
                  </a:rPr>
                  <a:t>的训练为多轮外循环</a:t>
                </a:r>
                <a:r>
                  <a:rPr lang="en-US" altLang="zh-CN" sz="1200">
                    <a:sym typeface="+mn-ea"/>
                  </a:rPr>
                  <a:t>+</a:t>
                </a:r>
                <a:r>
                  <a:rPr lang="zh-CN" altLang="en-US" sz="1200">
                    <a:sym typeface="+mn-ea"/>
                  </a:rPr>
                  <a:t>内循环</a:t>
                </a:r>
                <a:br>
                  <a:rPr lang="zh-CN" altLang="en-US" sz="1200">
                    <a:sym typeface="+mn-ea"/>
                  </a:rPr>
                </a:br>
                <a:r>
                  <a:rPr lang="zh-CN" altLang="en-US" sz="1200">
                    <a:sym typeface="+mn-ea"/>
                  </a:rPr>
                  <a:t>内循环：短轮训练，看部分组数据后就进行</a:t>
                </a:r>
                <a:r>
                  <a:rPr lang="zh-CN" altLang="en-US" sz="1200">
                    <a:sym typeface="+mn-ea"/>
                  </a:rPr>
                  <a:t>更新验收</a:t>
                </a:r>
                <a:endParaRPr lang="zh-CN" altLang="en-US" sz="1200">
                  <a:sym typeface="+mn-ea"/>
                </a:endParaRPr>
              </a:p>
              <a:p>
                <a:r>
                  <a:rPr lang="zh-CN" altLang="en-US" sz="1200">
                    <a:sym typeface="+mn-ea"/>
                  </a:rPr>
                  <a:t>外循环：新一轮的改写器再次执行</a:t>
                </a:r>
                <a:r>
                  <a:rPr lang="en-US" altLang="zh-CN" sz="1200">
                    <a:sym typeface="+mn-ea"/>
                  </a:rPr>
                  <a:t> GRPO</a:t>
                </a:r>
                <a:r>
                  <a:rPr lang="zh-CN" altLang="en-US" sz="1200">
                    <a:sym typeface="+mn-ea"/>
                  </a:rPr>
                  <a:t>。重新输出</a:t>
                </a:r>
                <a:r>
                  <a:rPr lang="en-US" altLang="zh-CN" sz="1200">
                    <a:sym typeface="+mn-ea"/>
                  </a:rPr>
                  <a:t> K </a:t>
                </a:r>
                <a:r>
                  <a:rPr lang="zh-CN" altLang="en-US" sz="1200">
                    <a:sym typeface="+mn-ea"/>
                  </a:rPr>
                  <a:t>路改写（可以针对同一批原文），冻结</a:t>
                </a:r>
                <a:r>
                  <a:rPr lang="zh-CN" altLang="en-US" sz="1200">
                    <a:sym typeface="+mn-ea"/>
                  </a:rPr>
                  <a:t>的评分</a:t>
                </a:r>
                <a:r>
                  <a:rPr lang="zh-CN" altLang="en-US" sz="1200">
                    <a:sym typeface="+mn-ea"/>
                  </a:rPr>
                  <a:t>器和质量头重新打分</a:t>
                </a:r>
                <a:br>
                  <a:rPr lang="zh-CN" altLang="en-US" sz="1200">
                    <a:sym typeface="+mn-ea"/>
                  </a:rPr>
                </a:br>
                <a:r>
                  <a:rPr lang="zh-CN" altLang="en-US" sz="1200">
                    <a:sym typeface="+mn-ea"/>
                  </a:rPr>
                  <a:t>根据改写效果不断</a:t>
                </a:r>
                <a:r>
                  <a:rPr lang="zh-CN" altLang="en-US" sz="1200">
                    <a:sym typeface="+mn-ea"/>
                  </a:rPr>
                  <a:t>优化（当前为</a:t>
                </a:r>
                <a:r>
                  <a:rPr lang="zh-CN" altLang="en-US" sz="1200">
                    <a:solidFill>
                      <a:srgbClr val="FF0000"/>
                    </a:solidFill>
                    <a:sym typeface="+mn-ea"/>
                  </a:rPr>
                  <a:t>全参微调，如实际效果过于波动可考虑</a:t>
                </a:r>
                <a:r>
                  <a:rPr lang="en-US" altLang="zh-CN" sz="1200">
                    <a:solidFill>
                      <a:srgbClr val="FF0000"/>
                    </a:solidFill>
                    <a:sym typeface="+mn-ea"/>
                  </a:rPr>
                  <a:t>LoRA</a:t>
                </a:r>
                <a:r>
                  <a:rPr lang="zh-CN" altLang="en-US" sz="1200">
                    <a:solidFill>
                      <a:srgbClr val="FF0000"/>
                    </a:solidFill>
                    <a:sym typeface="+mn-ea"/>
                  </a:rPr>
                  <a:t>的形式</a:t>
                </a:r>
                <a:r>
                  <a:rPr lang="en-US" altLang="zh-CN" sz="1200">
                    <a:sym typeface="+mn-ea"/>
                  </a:rPr>
                  <a:t>)</a:t>
                </a:r>
                <a:endParaRPr lang="zh-CN" altLang="en-US" sz="1200">
                  <a:solidFill>
                    <a:srgbClr val="FF0000"/>
                  </a:solidFill>
                  <a:sym typeface="+mn-ea"/>
                </a:endParaRPr>
              </a:p>
            </p:txBody>
          </p:sp>
          <p:sp>
            <p:nvSpPr>
              <p:cNvPr id="26" name="SJ012-5"/>
              <p:cNvSpPr/>
              <p:nvPr/>
            </p:nvSpPr>
            <p:spPr>
              <a:xfrm>
                <a:off x="6976" y="7579"/>
                <a:ext cx="8374" cy="2627"/>
              </a:xfrm>
              <a:prstGeom prst="roundRect">
                <a:avLst>
                  <a:gd name="adj" fmla="val 6458"/>
                </a:avLst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OPPOSans M" panose="00020600040101010101" charset="-122"/>
                  <a:cs typeface="OPPOSans M" panose="00020600040101010101" charset="-122"/>
                </a:endParaRPr>
              </a:p>
            </p:txBody>
          </p:sp>
        </p:grpSp>
        <p:sp>
          <p:nvSpPr>
            <p:cNvPr id="28" name="SJ012-5"/>
            <p:cNvSpPr/>
            <p:nvPr/>
          </p:nvSpPr>
          <p:spPr>
            <a:xfrm>
              <a:off x="6935" y="1222"/>
              <a:ext cx="8374" cy="2269"/>
            </a:xfrm>
            <a:prstGeom prst="roundRect">
              <a:avLst>
                <a:gd name="adj" fmla="val 6458"/>
              </a:avLst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OPPOSans M" panose="00020600040101010101" charset="-122"/>
                <a:cs typeface="OPPOSans M" panose="00020600040101010101" charset="-122"/>
              </a:endParaRPr>
            </a:p>
          </p:txBody>
        </p:sp>
        <p:sp>
          <p:nvSpPr>
            <p:cNvPr id="29" name="SJ012-13"/>
            <p:cNvSpPr txBox="1"/>
            <p:nvPr/>
          </p:nvSpPr>
          <p:spPr>
            <a:xfrm>
              <a:off x="6991" y="1174"/>
              <a:ext cx="8310" cy="218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1400">
                  <a:latin typeface="+mn-ea"/>
                </a:defRPr>
              </a:lvl1pPr>
            </a:lstStyle>
            <a:p>
              <a:r>
                <a:rPr lang="en-US" altLang="zh-CN" sz="1200">
                  <a:sym typeface="+mn-ea"/>
                </a:rPr>
                <a:t>GRPO</a:t>
              </a:r>
              <a:r>
                <a:rPr lang="zh-CN" altLang="en-US" sz="1200">
                  <a:sym typeface="+mn-ea"/>
                </a:rPr>
                <a:t>过程需要用整组的评分数据。</a:t>
              </a:r>
              <a:endParaRPr lang="zh-CN" altLang="en-US" sz="1200">
                <a:sym typeface="+mn-ea"/>
              </a:endParaRPr>
            </a:p>
            <a:p>
              <a:r>
                <a:rPr lang="zh-CN" altLang="en-US" sz="1200">
                  <a:sym typeface="+mn-ea"/>
                </a:rPr>
                <a:t>每条先拿到各自的质量分，</a:t>
              </a:r>
              <a:r>
                <a:rPr lang="zh-CN" altLang="en-US" sz="1200">
                  <a:sym typeface="+mn-ea"/>
                </a:rPr>
                <a:t>再在组内做均值方差标准化。高于组均值的优势为正，低于组均值的为负，组内离散程度决定程度。分数几乎一样时，优势全是零，表明这组对策略没有梯度。可选地还会按旧策略下好不好生成进行打折，容易生成的正样本权重要低一些。</a:t>
              </a:r>
              <a:br>
                <a:rPr lang="zh-CN" altLang="en-US" sz="1200">
                  <a:sym typeface="+mn-ea"/>
                </a:rPr>
              </a:br>
              <a:br>
                <a:rPr lang="zh-CN" altLang="en-US" sz="1200">
                  <a:sym typeface="+mn-ea"/>
                </a:rPr>
              </a:br>
              <a:endParaRPr lang="zh-CN" altLang="en-US" sz="1200">
                <a:sym typeface="+mn-ea"/>
              </a:endParaRPr>
            </a:p>
            <a:p>
              <a:r>
                <a:rPr lang="zh-CN" altLang="en-US" sz="1200">
                  <a:sym typeface="+mn-ea"/>
                </a:rPr>
                <a:t>改写的参考策略仍然维持最初输入的提示词。</a:t>
              </a:r>
              <a:endParaRPr lang="zh-CN" altLang="en-US" sz="1200">
                <a:sym typeface="+mn-ea"/>
              </a:endParaRPr>
            </a:p>
            <a:p>
              <a:r>
                <a:rPr lang="en-US" altLang="zh-CN" sz="1200">
                  <a:solidFill>
                    <a:srgbClr val="FF0000"/>
                  </a:solidFill>
                  <a:sym typeface="+mn-ea"/>
                </a:rPr>
                <a:t>GRPO</a:t>
              </a:r>
              <a:r>
                <a:rPr lang="zh-CN" altLang="en-US" sz="1200">
                  <a:solidFill>
                    <a:srgbClr val="FF0000"/>
                  </a:solidFill>
                  <a:sym typeface="+mn-ea"/>
                </a:rPr>
                <a:t>的过程损失为</a:t>
              </a:r>
              <a:r>
                <a:rPr lang="en-US" altLang="zh-CN" sz="1200">
                  <a:solidFill>
                    <a:srgbClr val="FF0000"/>
                  </a:solidFill>
                  <a:sym typeface="+mn-ea"/>
                </a:rPr>
                <a:t>2</a:t>
              </a:r>
              <a:r>
                <a:rPr lang="zh-CN" altLang="en-US" sz="1200">
                  <a:solidFill>
                    <a:srgbClr val="FF0000"/>
                  </a:solidFill>
                  <a:sym typeface="+mn-ea"/>
                </a:rPr>
                <a:t>项：</a:t>
              </a:r>
              <a:br>
                <a:rPr lang="zh-CN" altLang="en-US" sz="1200">
                  <a:sym typeface="+mn-ea"/>
                </a:rPr>
              </a:br>
              <a:r>
                <a:rPr lang="en-US" altLang="zh-CN" sz="1200">
                  <a:sym typeface="+mn-ea"/>
                </a:rPr>
                <a:t>1</a:t>
              </a:r>
              <a:r>
                <a:rPr lang="zh-CN" altLang="en-US" sz="1200">
                  <a:sym typeface="+mn-ea"/>
                </a:rPr>
                <a:t>、优势乘当前策略对于改写文本的对数概率，正优势即提高这条改写的概率，负优势则压低改改写</a:t>
              </a:r>
              <a:r>
                <a:rPr lang="zh-CN" altLang="en-US" sz="1200">
                  <a:sym typeface="+mn-ea"/>
                </a:rPr>
                <a:t>概率。</a:t>
              </a:r>
              <a:endParaRPr lang="zh-CN" altLang="en-US" sz="1200">
                <a:sym typeface="+mn-ea"/>
              </a:endParaRPr>
            </a:p>
            <a:p>
              <a:r>
                <a:rPr lang="en-US" altLang="zh-CN" sz="1200">
                  <a:sym typeface="+mn-ea"/>
                </a:rPr>
                <a:t>2</a:t>
              </a:r>
              <a:r>
                <a:rPr lang="zh-CN" altLang="en-US" sz="1200">
                  <a:sym typeface="+mn-ea"/>
                </a:rPr>
                <a:t>、当前策略相对参考策略的</a:t>
              </a:r>
              <a:r>
                <a:rPr lang="en-US" altLang="zh-CN" sz="1200">
                  <a:sym typeface="+mn-ea"/>
                </a:rPr>
                <a:t> KL</a:t>
              </a:r>
              <a:r>
                <a:rPr lang="zh-CN" altLang="en-US" sz="1200">
                  <a:sym typeface="+mn-ea"/>
                </a:rPr>
                <a:t>，默认用完成段对数概率差的平方，防止为了刷质量分写飞。学习率比</a:t>
              </a:r>
              <a:r>
                <a:rPr lang="en-US" altLang="zh-CN" sz="1200">
                  <a:sym typeface="+mn-ea"/>
                </a:rPr>
                <a:t> SFT </a:t>
              </a:r>
              <a:r>
                <a:rPr lang="zh-CN" altLang="en-US" sz="1200">
                  <a:sym typeface="+mn-ea"/>
                </a:rPr>
                <a:t>更小。</a:t>
              </a:r>
              <a:endParaRPr lang="zh-CN" altLang="en-US" sz="1200">
                <a:sym typeface="+mn-ea"/>
              </a:endParaRPr>
            </a:p>
            <a:p>
              <a:endParaRPr lang="zh-CN" altLang="en-US" sz="1200">
                <a:sym typeface="+mn-ea"/>
              </a:endParaRPr>
            </a:p>
            <a:p>
              <a:br>
                <a:rPr lang="zh-CN" altLang="en-US" sz="1200">
                  <a:sym typeface="+mn-ea"/>
                </a:rPr>
              </a:b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31" name="图片 30" descr="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70" y="2121535"/>
            <a:ext cx="2697480" cy="4049395"/>
          </a:xfrm>
          <a:prstGeom prst="rect">
            <a:avLst/>
          </a:prstGeom>
        </p:spPr>
      </p:pic>
      <p:grpSp>
        <p:nvGrpSpPr>
          <p:cNvPr id="33" name="SJ014-9"/>
          <p:cNvGrpSpPr/>
          <p:nvPr/>
        </p:nvGrpSpPr>
        <p:grpSpPr>
          <a:xfrm rot="16200000">
            <a:off x="3198220" y="4457444"/>
            <a:ext cx="640931" cy="361602"/>
            <a:chOff x="8729372" y="5306510"/>
            <a:chExt cx="640931" cy="361602"/>
          </a:xfrm>
        </p:grpSpPr>
        <p:sp>
          <p:nvSpPr>
            <p:cNvPr id="34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5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32" name="SJ014-9"/>
          <p:cNvGrpSpPr/>
          <p:nvPr/>
        </p:nvGrpSpPr>
        <p:grpSpPr>
          <a:xfrm rot="16200000">
            <a:off x="6145890" y="2334639"/>
            <a:ext cx="640931" cy="361602"/>
            <a:chOff x="8729372" y="5306510"/>
            <a:chExt cx="640931" cy="361602"/>
          </a:xfrm>
        </p:grpSpPr>
        <p:sp>
          <p:nvSpPr>
            <p:cNvPr id="36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37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38" name="SJ014-9"/>
          <p:cNvGrpSpPr/>
          <p:nvPr/>
        </p:nvGrpSpPr>
        <p:grpSpPr>
          <a:xfrm rot="16200000">
            <a:off x="6145890" y="4163439"/>
            <a:ext cx="640931" cy="361602"/>
            <a:chOff x="8729372" y="5306510"/>
            <a:chExt cx="640931" cy="361602"/>
          </a:xfrm>
        </p:grpSpPr>
        <p:sp>
          <p:nvSpPr>
            <p:cNvPr id="39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40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grpSp>
        <p:nvGrpSpPr>
          <p:cNvPr id="41" name="SJ014-9"/>
          <p:cNvGrpSpPr/>
          <p:nvPr/>
        </p:nvGrpSpPr>
        <p:grpSpPr>
          <a:xfrm rot="16200000">
            <a:off x="6145890" y="5270244"/>
            <a:ext cx="640931" cy="361602"/>
            <a:chOff x="8729372" y="5306510"/>
            <a:chExt cx="640931" cy="361602"/>
          </a:xfrm>
        </p:grpSpPr>
        <p:sp>
          <p:nvSpPr>
            <p:cNvPr id="42" name="SJ014-9-1"/>
            <p:cNvSpPr/>
            <p:nvPr/>
          </p:nvSpPr>
          <p:spPr>
            <a:xfrm rot="5400000">
              <a:off x="8901876" y="5199684"/>
              <a:ext cx="295924" cy="640931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  <p:sp>
          <p:nvSpPr>
            <p:cNvPr id="43" name="SJ014-9-2"/>
            <p:cNvSpPr/>
            <p:nvPr/>
          </p:nvSpPr>
          <p:spPr>
            <a:xfrm rot="5400000">
              <a:off x="8901876" y="5134006"/>
              <a:ext cx="295924" cy="640931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OPPOSans M" panose="00020600040101010101" charset="-122"/>
              </a:endParaRPr>
            </a:p>
          </p:txBody>
        </p:sp>
      </p:grpSp>
      <p:sp>
        <p:nvSpPr>
          <p:cNvPr id="44" name="SJ025-5"/>
          <p:cNvSpPr txBox="1"/>
          <p:nvPr>
            <p:custDataLst>
              <p:tags r:id="rId3"/>
            </p:custDataLst>
          </p:nvPr>
        </p:nvSpPr>
        <p:spPr>
          <a:xfrm>
            <a:off x="3963035" y="464820"/>
            <a:ext cx="5072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GRPO 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全流程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636010" y="1034415"/>
            <a:ext cx="772604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简单说：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GRPO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在同一原文的多条改写里，按相对好坏调整步幅更新改写器</a:t>
            </a:r>
            <a:endParaRPr lang="zh-CN" altLang="en-US"/>
          </a:p>
          <a:p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" y="103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 </a:t>
            </a:r>
            <a:r>
              <a:rPr lang="en-US" altLang="zh-CN" sz="3200" b="1" dirty="0">
                <a:solidFill>
                  <a:srgbClr val="1A1A1A"/>
                </a:solidFill>
                <a:latin typeface="Calibri" panose="020F0502020204030204"/>
                <a:ea typeface="微软雅黑" panose="020B0503020204020204" charset="-122"/>
                <a:cs typeface="Calibri" panose="020F0502020204030204"/>
                <a:sym typeface="+mn-ea"/>
              </a:rPr>
              <a:t>Training</a:t>
            </a:r>
            <a:endParaRPr lang="en-US" altLang="zh-CN" sz="3200" b="1" dirty="0">
              <a:solidFill>
                <a:srgbClr val="1A1A1A"/>
              </a:solidFill>
              <a:latin typeface="Calibri" panose="020F0502020204030204"/>
              <a:ea typeface="微软雅黑" panose="020B0503020204020204" charset="-122"/>
              <a:cs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067" y="68724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如何构建我们的训练</a:t>
            </a:r>
            <a:r>
              <a:rPr lang="zh-CN" sz="1600" b="1" i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流程？</a:t>
            </a:r>
            <a:endParaRPr lang="zh-CN" sz="1600" b="1" i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222"/>
          <p:cNvPicPr>
            <a:picLocks noChangeAspect="1"/>
          </p:cNvPicPr>
          <p:nvPr/>
        </p:nvPicPr>
        <p:blipFill>
          <a:blip r:embed="rId1"/>
          <a:srcRect l="23390" r="24898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sp>
        <p:nvSpPr>
          <p:cNvPr id="44" name="SJ025-5"/>
          <p:cNvSpPr txBox="1"/>
          <p:nvPr>
            <p:custDataLst>
              <p:tags r:id="rId2"/>
            </p:custDataLst>
          </p:nvPr>
        </p:nvSpPr>
        <p:spPr>
          <a:xfrm>
            <a:off x="3963035" y="340995"/>
            <a:ext cx="5072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注意点及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85210" y="687070"/>
            <a:ext cx="6272530" cy="6170930"/>
            <a:chOff x="9122" y="446"/>
            <a:chExt cx="9878" cy="9718"/>
          </a:xfrm>
        </p:grpSpPr>
        <p:sp>
          <p:nvSpPr>
            <p:cNvPr id="5" name="文本框 4"/>
            <p:cNvSpPr txBox="1"/>
            <p:nvPr/>
          </p:nvSpPr>
          <p:spPr>
            <a:xfrm>
              <a:off x="9256" y="446"/>
              <a:ext cx="9744" cy="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解释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fontAlgn="auto">
                <a:lnSpc>
                  <a:spcPct val="150000"/>
                </a:lnSpc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SFT 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 GRPO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都是原稿跟自己的改写的内部比较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为什么这么做：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fontAlgn="auto">
                <a:lnSpc>
                  <a:spcPct val="150000"/>
                </a:lnSpc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、跨稿的改写比较没有任何意义，我们只需要知道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找到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对好的内容改写会引入什么坏的因素；对坏的内容改写会带来哪些好的改观即可。而不同描述之间的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SFP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仿写，</a:t>
              </a:r>
              <a:r>
                <a:rPr lang="zh-CN" altLang="en-US" sz="14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在设计轴上可能会引入冲突</a:t>
              </a:r>
              <a:endPara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fontAlgn="auto">
                <a:lnSpc>
                  <a:spcPct val="150000"/>
                </a:lnSpc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、如此操作，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可以将经验集成到改写器的参数调整当中，改写器才能够面对陌生的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description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能快速识别到优秀表述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劣质表述，进而实现有效的改写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122" y="4931"/>
              <a:ext cx="9813" cy="5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4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仍存在的问题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1、逆解析的样例还需要补充。初始阶段的训练数据为100*10 = 1000条（少了）。SFP过程优化可以考虑增加组内改写数，细化权重调整；广泛学习的样例则必须引入更多优质逆解析样例作为模板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、改写器的初始步幅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跨度必须明显，要探索文本的内在表现，确保组内的文本表现在同一评分标准下存在差异。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、评分的调整：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）纯软性规则对于评分稳定性的表现验证为相对失败，必须通过在Design轴引入部分cap规则来稳定平庸设计的低分，进而限制平庸设计的出现。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algn="l" fontAlgn="auto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RM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双头的实际效果需要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进一步验证。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8430" y="103505"/>
            <a:ext cx="32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067" y="620000"/>
            <a:ext cx="7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5A5A5A"/>
                </a:solidFill>
                <a:latin typeface="微软雅黑"/>
              </a:rPr>
              <a:t>如何构建我们的训练流程？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3035" y="430000"/>
            <a:ext cx="76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微软雅黑"/>
              </a:rPr>
              <a:t>06 损失函数：SFT 与 GRPO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80000" y="1000000"/>
            <a:ext cx="8100000" cy="2100000"/>
          </a:xfrm>
          <a:prstGeom prst="roundRect">
            <a:avLst/>
          </a:prstGeom>
          <a:solidFill>
            <a:srgbClr val="F7F8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0000" y="1080000"/>
            <a:ext cx="7700000" cy="1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F4B8A"/>
                </a:solidFill>
                <a:latin typeface="微软雅黑"/>
              </a:rPr>
              <a:t>SFT　交叉熵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一组 K 条里只留 r_Q 最高的改写。用户侧 token 掩掉，只让模型逐词预测这条冠军改写。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学习率 2e-5，最多 1 个 epoch。loss 的指数滑动平均在 100 step 之后，连续 6 次日志不再明显下降就早停。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loss 下降表示：看到同一篇原文时，冠军改写每个 token 的概率在升高。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80000" y="3240000"/>
            <a:ext cx="8100000" cy="2500000"/>
          </a:xfrm>
          <a:prstGeom prst="roundRect">
            <a:avLst/>
          </a:prstGeom>
          <a:solidFill>
            <a:srgbClr val="F7F8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0000" y="3320000"/>
            <a:ext cx="7700000" cy="2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F4B8A"/>
                </a:solidFill>
                <a:latin typeface="微软雅黑"/>
              </a:rPr>
              <a:t>GRPO　L = −mean(A · log π) + β · mean((log π − log π_ref)²)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策略项：组内优势 A&gt;0 的改写被抬高概率，A&lt;0 的被压低。优势来自冻结的 r_Q，训练中不再重打分。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KL 项：β = 0.04，把当前改写器拴在训练前快照上。日志里的 loss 是两项之和；这次没有把两项拆开记录。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微软雅黑"/>
              </a:rPr>
              <a:t>四轮短更新，每轮 0.25 epoch，学习率 1e-6。后一轮从上一轮的 LoRA 接着训，参考模型全程冻结。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0000" y="5900000"/>
            <a:ext cx="81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E6E6E"/>
                </a:solidFill>
                <a:latin typeface="微软雅黑"/>
              </a:rPr>
              <a:t>冷启动日志从「加载 hf_checkpoints/sft、进入第 1 轮 GRPO」开始。SFT 的逐步交叉熵没有留在这份日志里；SFT 权重是第 1 轮的起点，说明监督微调已经写完。下一页是四轮 GRPO 的实测。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8430" y="103505"/>
            <a:ext cx="32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067" y="620000"/>
            <a:ext cx="7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5A5A5A"/>
                </a:solidFill>
                <a:latin typeface="微软雅黑"/>
              </a:rPr>
              <a:t>如何构建我们的训练流程？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3035" y="430000"/>
            <a:ext cx="76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微软雅黑"/>
              </a:rPr>
              <a:t>07 冷启动实测：GRPO 损失下降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1212215"/>
            <a:ext cx="3049270" cy="44227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80000" y="980000"/>
          <a:ext cx="8100000" cy="1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1100000"/>
                <a:gridCol w="1200000"/>
                <a:gridCol w="1200000"/>
                <a:gridCol w="1200000"/>
                <a:gridCol w="1400000"/>
                <a:gridCol w="900000"/>
              </a:tblGrid>
              <a:tr h="2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轮次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起点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epoch 0.08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epoch 0.17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epoch 0.25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轮均 train_loss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相对第 1 轮</a:t>
                      </a:r>
                    </a:p>
                  </a:txBody>
                  <a:tcPr>
                    <a:solidFill>
                      <a:srgbClr val="2F4B8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/>
                        </a:rPr>
                        <a:t>第 1 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0.03251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0.5743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/>
                        </a:rPr>
                        <a:t>第 2 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round_01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0.03204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0.5738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7A4D"/>
                          </a:solidFill>
                          <a:latin typeface="微软雅黑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/>
                        </a:rPr>
                        <a:t>第 3 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round_02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0.03169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0.5726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7A4D"/>
                          </a:solidFill>
                          <a:latin typeface="微软雅黑"/>
                        </a:rPr>
                        <a:t>-0.43%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微软雅黑"/>
                        </a:rPr>
                        <a:t>第 4 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round_03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0.03086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0.5719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0.2792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7A4D"/>
                          </a:solidFill>
                          <a:latin typeface="微软雅黑"/>
                        </a:rPr>
                        <a:t>-0.61%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80000" y="2520000"/>
          <a:ext cx="4300000" cy="25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80000" y="2580000"/>
            <a:ext cx="3700000" cy="2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4B8A"/>
                </a:solidFill>
                <a:latin typeface="微软雅黑"/>
              </a:rPr>
              <a:t>怎么读这组数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</a:rPr>
              <a:t>同一 epoch 的三个检查点，四轮全部逐轮下降。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</a:rPr>
              <a:t>轮均从 0.2809 降到 0.2792，合计 −0.61%。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</a:rPr>
              <a:t>单轮里 0.03 → 0.57 是不同数据窗口的滑动均值，轮均仍约 0.28。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</a:rPr>
              <a:t>梯度范数停在 0.31–0.55，训练没有发散。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0000" y="5200000"/>
            <a:ext cx="81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5A5A"/>
                </a:solidFill>
                <a:latin typeface="微软雅黑"/>
              </a:rPr>
              <a:t>来源：grpo_chanel_inverse_v2 / train_coldstart.log（2026-09-13）。每轮约 3.7 分钟、0.25 epoch，β=0.04。
下降幅度小，和 1e-6 的学习率以及 KL 约束一致：策略在按 GRPO 目标更新，同时留在训练前改写器附近。
这组曲线说明优化是稳定生效的。改写文本是否更好，要用 round_04 再做一轮 K 路抽检。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9.5745669291338,&quot;left&quot;:40.62976377952756,&quot;top&quot;:64.05023622047244,&quot;width&quot;:730.9702362204724}"/>
</p:tagLst>
</file>

<file path=ppt/tags/tag2.xml><?xml version="1.0" encoding="utf-8"?>
<p:tagLst xmlns:p="http://schemas.openxmlformats.org/presentationml/2006/main">
  <p:tag name="KSO_WM_DIAGRAM_VIRTUALLY_FRAME" val="{&quot;height&quot;:449.5745669291338,&quot;left&quot;:40.62976377952756,&quot;top&quot;:64.05023622047244,&quot;width&quot;:730.9702362204724}"/>
</p:tagLst>
</file>

<file path=ppt/tags/tag3.xml><?xml version="1.0" encoding="utf-8"?>
<p:tagLst xmlns:p="http://schemas.openxmlformats.org/presentationml/2006/main">
  <p:tag name="KSO_WM_DIAGRAM_VIRTUALLY_FRAME" val="{&quot;height&quot;:449.5745669291338,&quot;left&quot;:40.62976377952756,&quot;top&quot;:64.05023622047244,&quot;width&quot;:730.9702362204724}"/>
</p:tagLst>
</file>

<file path=ppt/tags/tag4.xml><?xml version="1.0" encoding="utf-8"?>
<p:tagLst xmlns:p="http://schemas.openxmlformats.org/presentationml/2006/main">
  <p:tag name="KSO_WM_DIAGRAM_VIRTUALLY_FRAME" val="{&quot;height&quot;:449.5745669291338,&quot;left&quot;:40.62976377952756,&quot;top&quot;:64.05023622047244,&quot;width&quot;:730.9702362204724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7798</Words>
  <Application>WPS 演示</Application>
  <PresentationFormat>宽屏</PresentationFormat>
  <Paragraphs>679</Paragraphs>
  <Slides>18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Consolas</vt:lpstr>
      <vt:lpstr>等线</vt:lpstr>
      <vt:lpstr>Arial Unicode MS</vt:lpstr>
      <vt:lpstr>等线 Light</vt:lpstr>
      <vt:lpstr>OPPOSans 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梁世豪</cp:lastModifiedBy>
  <cp:revision>20</cp:revision>
  <dcterms:created xsi:type="dcterms:W3CDTF">2013-01-27T09:14:00Z</dcterms:created>
  <dcterms:modified xsi:type="dcterms:W3CDTF">2026-08-31T20:59:32Z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53E57F6FFBB94B22AF3FEBA503D1D7FA_12</vt:lpwstr>
  </property>
  <property fmtid="{D5CDD505-2E9C-101B-9397-08002B2CF9AE}" pid="3" name="KSOProductBuildVer">
    <vt:lpwstr>2052-12.1.0.24657</vt:lpwstr>
  </property>
</Properties>
</file>