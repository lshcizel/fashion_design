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502920"/>
          </a:xfrm>
          <a:prstGeom prst="rect">
            <a:avLst/>
          </a:prstGeom>
          <a:noFill/>
        </p:spPr>
        <p:txBody>
          <a:bodyPr wrap="square" lIns="54864" rIns="54864" tIns="18288" bIns="18288" anchor="t"/>
          <a:lstStyle/>
          <a:p>
            <a:pPr algn="l">
              <a:lnSpc>
                <a:spcPct val="100000"/>
              </a:lnSpc>
              <a:spcBef>
                <a:spcPts val="0"/>
              </a:spcBef>
              <a:spcAft>
                <a:spcPts val="0"/>
              </a:spcAft>
            </a:pPr>
            <a:r>
              <a:rPr sz="2800" b="1">
                <a:solidFill>
                  <a:srgbClr val="1A1A1A"/>
                </a:solidFill>
                <a:latin typeface="微软雅黑"/>
                <a:ea typeface="微软雅黑"/>
                <a:cs typeface="微软雅黑"/>
              </a:rPr>
              <a:t>三类一致性矛盾的改写前后对照</a:t>
            </a:r>
          </a:p>
        </p:txBody>
      </p:sp>
      <p:sp>
        <p:nvSpPr>
          <p:cNvPr id="4" name="TextBox 3"/>
          <p:cNvSpPr txBox="1"/>
          <p:nvPr/>
        </p:nvSpPr>
        <p:spPr>
          <a:xfrm>
            <a:off x="438912" y="960120"/>
            <a:ext cx="11247120" cy="640080"/>
          </a:xfrm>
          <a:prstGeom prst="rect">
            <a:avLst/>
          </a:prstGeom>
          <a:noFill/>
        </p:spPr>
        <p:txBody>
          <a:bodyPr wrap="square" lIns="54864" rIns="54864" tIns="18288" bIns="18288" anchor="t"/>
          <a:lstStyle/>
          <a:p>
            <a:pPr algn="l">
              <a:lnSpc>
                <a:spcPct val="100000"/>
              </a:lnSpc>
              <a:spcBef>
                <a:spcPts val="0"/>
              </a:spcBef>
              <a:spcAft>
                <a:spcPts val="0"/>
              </a:spcAft>
            </a:pPr>
            <a:r>
              <a:rPr sz="1500" b="0">
                <a:solidFill>
                  <a:srgbClr val="1A1A1A"/>
                </a:solidFill>
                <a:latin typeface="微软雅黑"/>
                <a:ea typeface="微软雅黑"/>
                <a:cs typeface="微软雅黑"/>
              </a:rPr>
              <a:t>各取一条入选改写。入选条件是总分高于原文，并且惩罚低于原文。</a:t>
            </a:r>
          </a:p>
          <a:p>
            <a:pPr algn="l">
              <a:lnSpc>
                <a:spcPct val="100000"/>
              </a:lnSpc>
              <a:spcBef>
                <a:spcPts val="0"/>
              </a:spcBef>
              <a:spcAft>
                <a:spcPts val="0"/>
              </a:spcAft>
            </a:pPr>
            <a:r>
              <a:rPr sz="1500" b="0">
                <a:solidFill>
                  <a:srgbClr val="1A1A1A"/>
                </a:solidFill>
                <a:latin typeface="微软雅黑"/>
                <a:ea typeface="微软雅黑"/>
                <a:cs typeface="微软雅黑"/>
              </a:rPr>
              <a:t>红字标出被删掉的矛盾，以及改写后留下来的那一侧。</a:t>
            </a:r>
          </a:p>
        </p:txBody>
      </p:sp>
      <p:sp>
        <p:nvSpPr>
          <p:cNvPr id="5" name="Rectangle 4"/>
          <p:cNvSpPr/>
          <p:nvPr/>
        </p:nvSpPr>
        <p:spPr>
          <a:xfrm>
            <a:off x="438912" y="1965960"/>
            <a:ext cx="3611880" cy="416052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1965960"/>
            <a:ext cx="73152" cy="4160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19456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2200" b="1">
                <a:solidFill>
                  <a:srgbClr val="C0392B"/>
                </a:solidFill>
                <a:latin typeface="微软雅黑"/>
                <a:ea typeface="微软雅黑"/>
                <a:cs typeface="微软雅黑"/>
              </a:rPr>
              <a:t>01</a:t>
            </a:r>
          </a:p>
        </p:txBody>
      </p:sp>
      <p:sp>
        <p:nvSpPr>
          <p:cNvPr id="8" name="TextBox 7"/>
          <p:cNvSpPr txBox="1"/>
          <p:nvPr/>
        </p:nvSpPr>
        <p:spPr>
          <a:xfrm>
            <a:off x="694944" y="269748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左右不对称</a:t>
            </a:r>
          </a:p>
        </p:txBody>
      </p:sp>
      <p:sp>
        <p:nvSpPr>
          <p:cNvPr id="9" name="TextBox 8"/>
          <p:cNvSpPr txBox="1"/>
          <p:nvPr/>
        </p:nvSpPr>
        <p:spPr>
          <a:xfrm>
            <a:off x="694944" y="3200400"/>
            <a:ext cx="3154680" cy="64008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同一件衣服左右两套语法</a:t>
            </a:r>
          </a:p>
        </p:txBody>
      </p:sp>
      <p:sp>
        <p:nvSpPr>
          <p:cNvPr id="10" name="TextBox 9"/>
          <p:cNvSpPr txBox="1"/>
          <p:nvPr/>
        </p:nvSpPr>
        <p:spPr>
          <a:xfrm>
            <a:off x="694944" y="4069080"/>
            <a:ext cx="3154680" cy="82296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原文  0.40  /  惩罚 0.65</a:t>
            </a:r>
          </a:p>
          <a:p>
            <a:pPr algn="l">
              <a:lnSpc>
                <a:spcPct val="100000"/>
              </a:lnSpc>
              <a:spcBef>
                <a:spcPts val="0"/>
              </a:spcBef>
              <a:spcAft>
                <a:spcPts val="0"/>
              </a:spcAft>
            </a:pPr>
            <a:r>
              <a:rPr sz="1400" b="1">
                <a:solidFill>
                  <a:srgbClr val="C0392B"/>
                </a:solidFill>
                <a:latin typeface="微软雅黑"/>
                <a:ea typeface="微软雅黑"/>
                <a:cs typeface="微软雅黑"/>
              </a:rPr>
              <a:t>入选  0.84  /  惩罚 0.00</a:t>
            </a:r>
          </a:p>
        </p:txBody>
      </p:sp>
      <p:sp>
        <p:nvSpPr>
          <p:cNvPr id="11" name="TextBox 10"/>
          <p:cNvSpPr txBox="1"/>
          <p:nvPr/>
        </p:nvSpPr>
        <p:spPr>
          <a:xfrm>
            <a:off x="694944" y="5212080"/>
            <a:ext cx="3154680" cy="548640"/>
          </a:xfrm>
          <a:prstGeom prst="rect">
            <a:avLst/>
          </a:prstGeom>
          <a:noFill/>
        </p:spPr>
        <p:txBody>
          <a:bodyPr wrap="square" lIns="54864" rIns="54864" tIns="18288" bIns="18288" anchor="t"/>
          <a:lstStyle/>
          <a:p>
            <a:pPr algn="l">
              <a:lnSpc>
                <a:spcPct val="100000"/>
              </a:lnSpc>
              <a:spcBef>
                <a:spcPts val="0"/>
              </a:spcBef>
              <a:spcAft>
                <a:spcPts val="0"/>
              </a:spcAft>
            </a:pPr>
            <a:r>
              <a:rPr sz="1300" b="0">
                <a:solidFill>
                  <a:srgbClr val="1A1A1A"/>
                </a:solidFill>
                <a:latin typeface="微软雅黑"/>
                <a:ea typeface="微软雅黑"/>
                <a:cs typeface="微软雅黑"/>
              </a:rPr>
              <a:t>黑色手工对比</a:t>
            </a:r>
          </a:p>
        </p:txBody>
      </p:sp>
      <p:sp>
        <p:nvSpPr>
          <p:cNvPr id="12" name="Rectangle 11"/>
          <p:cNvSpPr/>
          <p:nvPr/>
        </p:nvSpPr>
        <p:spPr>
          <a:xfrm>
            <a:off x="4279392" y="1965960"/>
            <a:ext cx="3611880" cy="416052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9392" y="1965960"/>
            <a:ext cx="73152" cy="4160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19456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2200" b="1">
                <a:solidFill>
                  <a:srgbClr val="C0392B"/>
                </a:solidFill>
                <a:latin typeface="微软雅黑"/>
                <a:ea typeface="微软雅黑"/>
                <a:cs typeface="微软雅黑"/>
              </a:rPr>
              <a:t>08</a:t>
            </a:r>
          </a:p>
        </p:txBody>
      </p:sp>
      <p:sp>
        <p:nvSpPr>
          <p:cNvPr id="15" name="TextBox 14"/>
          <p:cNvSpPr txBox="1"/>
          <p:nvPr/>
        </p:nvSpPr>
        <p:spPr>
          <a:xfrm>
            <a:off x="4535424" y="269748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风格不一致</a:t>
            </a:r>
          </a:p>
        </p:txBody>
      </p:sp>
      <p:sp>
        <p:nvSpPr>
          <p:cNvPr id="16" name="TextBox 15"/>
          <p:cNvSpPr txBox="1"/>
          <p:nvPr/>
        </p:nvSpPr>
        <p:spPr>
          <a:xfrm>
            <a:off x="4535424" y="3200400"/>
            <a:ext cx="3154680" cy="64008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手工日装上叠了另一套婚礼</a:t>
            </a:r>
          </a:p>
        </p:txBody>
      </p:sp>
      <p:sp>
        <p:nvSpPr>
          <p:cNvPr id="17" name="TextBox 16"/>
          <p:cNvSpPr txBox="1"/>
          <p:nvPr/>
        </p:nvSpPr>
        <p:spPr>
          <a:xfrm>
            <a:off x="4535424" y="4069080"/>
            <a:ext cx="3154680" cy="82296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原文  0.36  /  惩罚 0.60</a:t>
            </a:r>
          </a:p>
          <a:p>
            <a:pPr algn="l">
              <a:lnSpc>
                <a:spcPct val="100000"/>
              </a:lnSpc>
              <a:spcBef>
                <a:spcPts val="0"/>
              </a:spcBef>
              <a:spcAft>
                <a:spcPts val="0"/>
              </a:spcAft>
            </a:pPr>
            <a:r>
              <a:rPr sz="1400" b="1">
                <a:solidFill>
                  <a:srgbClr val="C0392B"/>
                </a:solidFill>
                <a:latin typeface="微软雅黑"/>
                <a:ea typeface="微软雅黑"/>
                <a:cs typeface="微软雅黑"/>
              </a:rPr>
              <a:t>入选  1.00  /  惩罚 0.00</a:t>
            </a:r>
          </a:p>
        </p:txBody>
      </p:sp>
      <p:sp>
        <p:nvSpPr>
          <p:cNvPr id="18" name="TextBox 17"/>
          <p:cNvSpPr txBox="1"/>
          <p:nvPr/>
        </p:nvSpPr>
        <p:spPr>
          <a:xfrm>
            <a:off x="4535424" y="5212080"/>
            <a:ext cx="3154680" cy="548640"/>
          </a:xfrm>
          <a:prstGeom prst="rect">
            <a:avLst/>
          </a:prstGeom>
          <a:noFill/>
        </p:spPr>
        <p:txBody>
          <a:bodyPr wrap="square" lIns="54864" rIns="54864" tIns="18288" bIns="18288" anchor="t"/>
          <a:lstStyle/>
          <a:p>
            <a:pPr algn="l">
              <a:lnSpc>
                <a:spcPct val="100000"/>
              </a:lnSpc>
              <a:spcBef>
                <a:spcPts val="0"/>
              </a:spcBef>
              <a:spcAft>
                <a:spcPts val="0"/>
              </a:spcAft>
            </a:pPr>
            <a:r>
              <a:rPr sz="1300" b="0">
                <a:solidFill>
                  <a:srgbClr val="1A1A1A"/>
                </a:solidFill>
                <a:latin typeface="微软雅黑"/>
                <a:ea typeface="微软雅黑"/>
                <a:cs typeface="微软雅黑"/>
              </a:rPr>
              <a:t>夜花园刺绣</a:t>
            </a:r>
          </a:p>
        </p:txBody>
      </p:sp>
      <p:sp>
        <p:nvSpPr>
          <p:cNvPr id="19" name="Rectangle 18"/>
          <p:cNvSpPr/>
          <p:nvPr/>
        </p:nvSpPr>
        <p:spPr>
          <a:xfrm>
            <a:off x="8119872" y="1965960"/>
            <a:ext cx="3611880" cy="416052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1965960"/>
            <a:ext cx="73152" cy="4160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5904" y="219456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2200" b="1">
                <a:solidFill>
                  <a:srgbClr val="C0392B"/>
                </a:solidFill>
                <a:latin typeface="微软雅黑"/>
                <a:ea typeface="微软雅黑"/>
                <a:cs typeface="微软雅黑"/>
              </a:rPr>
              <a:t>17</a:t>
            </a:r>
          </a:p>
        </p:txBody>
      </p:sp>
      <p:sp>
        <p:nvSpPr>
          <p:cNvPr id="22" name="TextBox 21"/>
          <p:cNvSpPr txBox="1"/>
          <p:nvPr/>
        </p:nvSpPr>
        <p:spPr>
          <a:xfrm>
            <a:off x="8375904" y="2697480"/>
            <a:ext cx="3154680" cy="365760"/>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同要素矛盾</a:t>
            </a:r>
          </a:p>
        </p:txBody>
      </p:sp>
      <p:sp>
        <p:nvSpPr>
          <p:cNvPr id="23" name="TextBox 22"/>
          <p:cNvSpPr txBox="1"/>
          <p:nvPr/>
        </p:nvSpPr>
        <p:spPr>
          <a:xfrm>
            <a:off x="8375904" y="3200400"/>
            <a:ext cx="3154680" cy="64008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同一条裙子同时写成两套</a:t>
            </a:r>
          </a:p>
        </p:txBody>
      </p:sp>
      <p:sp>
        <p:nvSpPr>
          <p:cNvPr id="24" name="TextBox 23"/>
          <p:cNvSpPr txBox="1"/>
          <p:nvPr/>
        </p:nvSpPr>
        <p:spPr>
          <a:xfrm>
            <a:off x="8375904" y="4069080"/>
            <a:ext cx="3154680" cy="82296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原文  0.40  /  惩罚 0.65</a:t>
            </a:r>
          </a:p>
          <a:p>
            <a:pPr algn="l">
              <a:lnSpc>
                <a:spcPct val="100000"/>
              </a:lnSpc>
              <a:spcBef>
                <a:spcPts val="0"/>
              </a:spcBef>
              <a:spcAft>
                <a:spcPts val="0"/>
              </a:spcAft>
            </a:pPr>
            <a:r>
              <a:rPr sz="1400" b="1">
                <a:solidFill>
                  <a:srgbClr val="C0392B"/>
                </a:solidFill>
                <a:latin typeface="微软雅黑"/>
                <a:ea typeface="微软雅黑"/>
                <a:cs typeface="微软雅黑"/>
              </a:rPr>
              <a:t>入选  0.70  /  惩罚 0.00</a:t>
            </a:r>
          </a:p>
        </p:txBody>
      </p:sp>
      <p:sp>
        <p:nvSpPr>
          <p:cNvPr id="25" name="TextBox 24"/>
          <p:cNvSpPr txBox="1"/>
          <p:nvPr/>
        </p:nvSpPr>
        <p:spPr>
          <a:xfrm>
            <a:off x="8375904" y="5212080"/>
            <a:ext cx="3154680" cy="548640"/>
          </a:xfrm>
          <a:prstGeom prst="rect">
            <a:avLst/>
          </a:prstGeom>
          <a:noFill/>
        </p:spPr>
        <p:txBody>
          <a:bodyPr wrap="square" lIns="54864" rIns="54864" tIns="18288" bIns="18288" anchor="t"/>
          <a:lstStyle/>
          <a:p>
            <a:pPr algn="l">
              <a:lnSpc>
                <a:spcPct val="100000"/>
              </a:lnSpc>
              <a:spcBef>
                <a:spcPts val="0"/>
              </a:spcBef>
              <a:spcAft>
                <a:spcPts val="0"/>
              </a:spcAft>
            </a:pPr>
            <a:r>
              <a:rPr sz="1300" b="0">
                <a:solidFill>
                  <a:srgbClr val="1A1A1A"/>
                </a:solidFill>
                <a:latin typeface="微软雅黑"/>
                <a:ea typeface="微软雅黑"/>
                <a:cs typeface="微软雅黑"/>
              </a:rPr>
              <a:t>悬垂丝带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667512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01   左右不对称</a:t>
            </a:r>
            <a:r>
              <a:rPr sz="1800" b="0">
                <a:solidFill>
                  <a:srgbClr val="5C5C5C"/>
                </a:solidFill>
                <a:latin typeface="微软雅黑"/>
                <a:ea typeface="微软雅黑"/>
                <a:cs typeface="微软雅黑"/>
              </a:rPr>
              <a:t>    黑色手工对比</a:t>
            </a:r>
          </a:p>
        </p:txBody>
      </p:sp>
      <p:sp>
        <p:nvSpPr>
          <p:cNvPr id="4" name="TextBox 3"/>
          <p:cNvSpPr txBox="1"/>
          <p:nvPr/>
        </p:nvSpPr>
        <p:spPr>
          <a:xfrm>
            <a:off x="7040880" y="164592"/>
            <a:ext cx="4754880" cy="347472"/>
          </a:xfrm>
          <a:prstGeom prst="rect">
            <a:avLst/>
          </a:prstGeom>
          <a:noFill/>
        </p:spPr>
        <p:txBody>
          <a:bodyPr wrap="square" lIns="54864" rIns="54864" tIns="18288" bIns="18288" anchor="t"/>
          <a:lstStyle/>
          <a:p>
            <a:pPr algn="r">
              <a:lnSpc>
                <a:spcPct val="100000"/>
              </a:lnSpc>
              <a:spcBef>
                <a:spcPts val="0"/>
              </a:spcBef>
              <a:spcAft>
                <a:spcPts val="0"/>
              </a:spcAft>
            </a:pPr>
            <a:r>
              <a:rPr sz="1400" b="0">
                <a:solidFill>
                  <a:srgbClr val="1A1A1A"/>
                </a:solidFill>
                <a:latin typeface="微软雅黑"/>
                <a:ea typeface="微软雅黑"/>
                <a:cs typeface="微软雅黑"/>
              </a:rPr>
              <a:t>原文 0.40 / 0.65</a:t>
            </a:r>
            <a:r>
              <a:rPr sz="1400" b="0">
                <a:solidFill>
                  <a:srgbClr val="1A1A1A"/>
                </a:solidFill>
                <a:latin typeface="微软雅黑"/>
                <a:ea typeface="微软雅黑"/>
                <a:cs typeface="微软雅黑"/>
              </a:rPr>
              <a:t>   →   </a:t>
            </a:r>
            <a:r>
              <a:rPr sz="1400" b="1">
                <a:solidFill>
                  <a:srgbClr val="C0392B"/>
                </a:solidFill>
                <a:latin typeface="微软雅黑"/>
                <a:ea typeface="微软雅黑"/>
                <a:cs typeface="微软雅黑"/>
              </a:rPr>
              <a:t>入选 0.84 / 0.00</a:t>
            </a:r>
          </a:p>
        </p:txBody>
      </p:sp>
      <p:sp>
        <p:nvSpPr>
          <p:cNvPr id="5" name="Rectangle 4"/>
          <p:cNvSpPr/>
          <p:nvPr/>
        </p:nvSpPr>
        <p:spPr>
          <a:xfrm>
            <a:off x="329184"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1682496" y="640080"/>
            <a:ext cx="2980944" cy="2980944"/>
          </a:xfrm>
          <a:prstGeom prst="rect">
            <a:avLst/>
          </a:prstGeom>
        </p:spPr>
      </p:pic>
      <p:sp>
        <p:nvSpPr>
          <p:cNvPr id="7" name="TextBox 6"/>
          <p:cNvSpPr txBox="1"/>
          <p:nvPr/>
        </p:nvSpPr>
        <p:spPr>
          <a:xfrm>
            <a:off x="329184"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1A1A1A"/>
                </a:solidFill>
                <a:latin typeface="微软雅黑"/>
                <a:ea typeface="微软雅黑"/>
                <a:cs typeface="微软雅黑"/>
              </a:rPr>
              <a:t>改写前</a:t>
            </a:r>
          </a:p>
        </p:txBody>
      </p:sp>
      <p:sp>
        <p:nvSpPr>
          <p:cNvPr id="8" name="TextBox 7"/>
          <p:cNvSpPr txBox="1"/>
          <p:nvPr/>
        </p:nvSpPr>
        <p:spPr>
          <a:xfrm>
            <a:off x="329184"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0">
                <a:solidFill>
                  <a:srgbClr val="1A1A1A"/>
                </a:solidFill>
                <a:latin typeface="微软雅黑"/>
                <a:ea typeface="微软雅黑"/>
                <a:cs typeface="微软雅黑"/>
              </a:rPr>
              <a:t>Theme: black handmade contrast. Concept: a structured black jacket is the dark field, and crochet floral appliqué is the identifying idea. Dense red, white, yellow, and black floral appliqué still runs along the neckline and both front edges, with a red openwork crochet bag. At the same time the left half of this one jacket is matte black wool: notched lapel, set-in tailored sleeve, notched cuff. </a:t>
            </a:r>
            <a:r>
              <a:rPr sz="1000" b="1">
                <a:solidFill>
                  <a:srgbClr val="C0392B"/>
                </a:solidFill>
                <a:latin typeface="微软雅黑"/>
                <a:ea typeface="微软雅黑"/>
                <a:cs typeface="微软雅黑"/>
              </a:rPr>
              <a:t>The right half of the same jacket is high-gloss silk and sequin: no lapel, a cold shoulder, and a bishop sleeve to the knee.</a:t>
            </a:r>
            <a:r>
              <a:rPr sz="1000" b="0">
                <a:solidFill>
                  <a:srgbClr val="1A1A1A"/>
                </a:solidFill>
                <a:latin typeface="微软雅黑"/>
                <a:ea typeface="微软雅黑"/>
                <a:cs typeface="微软雅黑"/>
              </a:rPr>
              <a:t> The left leg is a black wool trouser with a crease; </a:t>
            </a:r>
            <a:r>
              <a:rPr sz="1000" b="1">
                <a:solidFill>
                  <a:srgbClr val="C0392B"/>
                </a:solidFill>
                <a:latin typeface="微软雅黑"/>
                <a:ea typeface="微软雅黑"/>
                <a:cs typeface="微软雅黑"/>
              </a:rPr>
              <a:t>the right leg is a red silk culotte.</a:t>
            </a:r>
            <a:r>
              <a:rPr sz="1000" b="0">
                <a:solidFill>
                  <a:srgbClr val="1A1A1A"/>
                </a:solidFill>
                <a:latin typeface="微软雅黑"/>
                <a:ea typeface="微软雅黑"/>
                <a:cs typeface="微软雅黑"/>
              </a:rPr>
              <a:t> The left foot is a closed black satin court pump; </a:t>
            </a:r>
            <a:r>
              <a:rPr sz="1000" b="1">
                <a:solidFill>
                  <a:srgbClr val="C0392B"/>
                </a:solidFill>
                <a:latin typeface="微软雅黑"/>
                <a:ea typeface="微软雅黑"/>
                <a:cs typeface="微软雅黑"/>
              </a:rPr>
              <a:t>the right foot is an open red silk evening sandal.</a:t>
            </a:r>
          </a:p>
        </p:txBody>
      </p:sp>
      <p:sp>
        <p:nvSpPr>
          <p:cNvPr id="9" name="Rectangle 8"/>
          <p:cNvSpPr/>
          <p:nvPr/>
        </p:nvSpPr>
        <p:spPr>
          <a:xfrm>
            <a:off x="6217920"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jpg"/>
          <p:cNvPicPr>
            <a:picLocks noChangeAspect="1"/>
          </p:cNvPicPr>
          <p:nvPr/>
        </p:nvPicPr>
        <p:blipFill>
          <a:blip r:embed="rId3"/>
          <a:stretch>
            <a:fillRect/>
          </a:stretch>
        </p:blipFill>
        <p:spPr>
          <a:xfrm>
            <a:off x="7571232" y="640080"/>
            <a:ext cx="2980944" cy="2980944"/>
          </a:xfrm>
          <a:prstGeom prst="rect">
            <a:avLst/>
          </a:prstGeom>
        </p:spPr>
      </p:pic>
      <p:sp>
        <p:nvSpPr>
          <p:cNvPr id="11" name="TextBox 10"/>
          <p:cNvSpPr txBox="1"/>
          <p:nvPr/>
        </p:nvSpPr>
        <p:spPr>
          <a:xfrm>
            <a:off x="6217920"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C0392B"/>
                </a:solidFill>
                <a:latin typeface="微软雅黑"/>
                <a:ea typeface="微软雅黑"/>
                <a:cs typeface="微软雅黑"/>
              </a:rPr>
              <a:t>改写后</a:t>
            </a:r>
          </a:p>
        </p:txBody>
      </p:sp>
      <p:sp>
        <p:nvSpPr>
          <p:cNvPr id="12" name="TextBox 11"/>
          <p:cNvSpPr txBox="1"/>
          <p:nvPr/>
        </p:nvSpPr>
        <p:spPr>
          <a:xfrm>
            <a:off x="6217920"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0">
                <a:solidFill>
                  <a:srgbClr val="1A1A1A"/>
                </a:solidFill>
                <a:latin typeface="微软雅黑"/>
                <a:ea typeface="微软雅黑"/>
                <a:cs typeface="微软雅黑"/>
              </a:rPr>
              <a:t>A </a:t>
            </a:r>
            <a:r>
              <a:rPr sz="1000" b="1">
                <a:solidFill>
                  <a:srgbClr val="C0392B"/>
                </a:solidFill>
                <a:latin typeface="微软雅黑"/>
                <a:ea typeface="微软雅黑"/>
                <a:cs typeface="微软雅黑"/>
              </a:rPr>
              <a:t>matte black wool jacket with a notched lapel, set-in tailored sleeve, and notched cuff,</a:t>
            </a:r>
            <a:r>
              <a:rPr sz="1000" b="0">
                <a:solidFill>
                  <a:srgbClr val="1A1A1A"/>
                </a:solidFill>
                <a:latin typeface="微软雅黑"/>
                <a:ea typeface="微软雅黑"/>
                <a:cs typeface="微软雅黑"/>
              </a:rPr>
              <a:t> paired with a </a:t>
            </a:r>
            <a:r>
              <a:rPr sz="1000" b="1">
                <a:solidFill>
                  <a:srgbClr val="C0392B"/>
                </a:solidFill>
                <a:latin typeface="微软雅黑"/>
                <a:ea typeface="微软雅黑"/>
                <a:cs typeface="微软雅黑"/>
              </a:rPr>
              <a:t>black wool trouser with a crease,</a:t>
            </a:r>
            <a:r>
              <a:rPr sz="1000" b="0">
                <a:solidFill>
                  <a:srgbClr val="1A1A1A"/>
                </a:solidFill>
                <a:latin typeface="微软雅黑"/>
                <a:ea typeface="微软雅黑"/>
                <a:cs typeface="微软雅黑"/>
              </a:rPr>
              <a:t> and a </a:t>
            </a:r>
            <a:r>
              <a:rPr sz="1000" b="1">
                <a:solidFill>
                  <a:srgbClr val="C0392B"/>
                </a:solidFill>
                <a:latin typeface="微软雅黑"/>
                <a:ea typeface="微软雅黑"/>
                <a:cs typeface="微软雅黑"/>
              </a:rPr>
              <a:t>closed black satin court pump.</a:t>
            </a:r>
          </a:p>
        </p:txBody>
      </p:sp>
      <p:sp>
        <p:nvSpPr>
          <p:cNvPr id="13" name="Rectangle 12"/>
          <p:cNvSpPr/>
          <p:nvPr/>
        </p:nvSpPr>
        <p:spPr>
          <a:xfrm>
            <a:off x="329184" y="5870448"/>
            <a:ext cx="11539728" cy="841248"/>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 y="5870448"/>
            <a:ext cx="73152" cy="8412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5925312"/>
            <a:ext cx="11247120" cy="731520"/>
          </a:xfrm>
          <a:prstGeom prst="rect">
            <a:avLst/>
          </a:prstGeom>
          <a:noFill/>
        </p:spPr>
        <p:txBody>
          <a:bodyPr wrap="square" lIns="54864" rIns="54864" tIns="18288" bIns="18288" anchor="ctr"/>
          <a:lstStyle/>
          <a:p>
            <a:pPr algn="l">
              <a:lnSpc>
                <a:spcPct val="100000"/>
              </a:lnSpc>
              <a:spcBef>
                <a:spcPts val="0"/>
              </a:spcBef>
              <a:spcAft>
                <a:spcPts val="0"/>
              </a:spcAft>
            </a:pPr>
            <a:r>
              <a:rPr sz="1300" b="1">
                <a:solidFill>
                  <a:srgbClr val="1A1A1A"/>
                </a:solidFill>
                <a:latin typeface="微软雅黑"/>
                <a:ea typeface="微软雅黑"/>
                <a:cs typeface="微软雅黑"/>
              </a:rPr>
              <a:t>改写点：右半整侧删除，</a:t>
            </a:r>
            <a:r>
              <a:rPr sz="1300" b="1">
                <a:solidFill>
                  <a:srgbClr val="C0392B"/>
                </a:solidFill>
                <a:latin typeface="微软雅黑"/>
                <a:ea typeface="微软雅黑"/>
                <a:cs typeface="微软雅黑"/>
              </a:rPr>
              <a:t>亮片丝绸袖、冷肩主教袖、红丝绸阔腿、露趾凉鞋</a:t>
            </a:r>
            <a:r>
              <a:rPr sz="1300" b="0">
                <a:solidFill>
                  <a:srgbClr val="1A1A1A"/>
                </a:solidFill>
                <a:latin typeface="微软雅黑"/>
                <a:ea typeface="微软雅黑"/>
                <a:cs typeface="微软雅黑"/>
              </a:rPr>
              <a:t>不再出现。只留左半</a:t>
            </a:r>
            <a:r>
              <a:rPr sz="1300" b="1">
                <a:solidFill>
                  <a:srgbClr val="C0392B"/>
                </a:solidFill>
                <a:latin typeface="微软雅黑"/>
                <a:ea typeface="微软雅黑"/>
                <a:cs typeface="微软雅黑"/>
              </a:rPr>
              <a:t>哑光羊毛翻领夹克、压线西裤、闭口缎面浅口鞋。</a:t>
            </a:r>
          </a:p>
          <a:p>
            <a:pPr algn="l">
              <a:lnSpc>
                <a:spcPct val="100000"/>
              </a:lnSpc>
              <a:spcBef>
                <a:spcPts val="0"/>
              </a:spcBef>
              <a:spcAft>
                <a:spcPts val="0"/>
              </a:spcAft>
            </a:pPr>
            <a:r>
              <a:rPr sz="1300" b="0">
                <a:solidFill>
                  <a:srgbClr val="1A1A1A"/>
                </a:solidFill>
                <a:latin typeface="微软雅黑"/>
                <a:ea typeface="微软雅黑"/>
                <a:cs typeface="微软雅黑"/>
              </a:rPr>
              <a:t>钩针贴花和红钩针包没有写进这条入选稿。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749808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01   入选稿的扣分</a:t>
            </a:r>
            <a:r>
              <a:rPr sz="1800" b="0">
                <a:solidFill>
                  <a:srgbClr val="5C5C5C"/>
                </a:solidFill>
                <a:latin typeface="微软雅黑"/>
                <a:ea typeface="微软雅黑"/>
                <a:cs typeface="微软雅黑"/>
              </a:rPr>
              <a:t>    黑色手工对比</a:t>
            </a:r>
          </a:p>
        </p:txBody>
      </p:sp>
      <p:sp>
        <p:nvSpPr>
          <p:cNvPr id="4" name="TextBox 3"/>
          <p:cNvSpPr txBox="1"/>
          <p:nvPr/>
        </p:nvSpPr>
        <p:spPr>
          <a:xfrm>
            <a:off x="7680960" y="164592"/>
            <a:ext cx="4114800" cy="347472"/>
          </a:xfrm>
          <a:prstGeom prst="rect">
            <a:avLst/>
          </a:prstGeom>
          <a:noFill/>
        </p:spPr>
        <p:txBody>
          <a:bodyPr wrap="square" lIns="54864" rIns="54864" tIns="18288" bIns="18288" anchor="t"/>
          <a:lstStyle/>
          <a:p>
            <a:pPr algn="r">
              <a:lnSpc>
                <a:spcPct val="100000"/>
              </a:lnSpc>
              <a:spcBef>
                <a:spcPts val="0"/>
              </a:spcBef>
              <a:spcAft>
                <a:spcPts val="0"/>
              </a:spcAft>
            </a:pPr>
            <a:r>
              <a:rPr sz="1300" b="0">
                <a:solidFill>
                  <a:srgbClr val="1A1A1A"/>
                </a:solidFill>
                <a:latin typeface="微软雅黑"/>
                <a:ea typeface="微软雅黑"/>
                <a:cs typeface="微软雅黑"/>
              </a:rPr>
              <a:t>覆盖 1.00   </a:t>
            </a:r>
            <a:r>
              <a:rPr sz="1300" b="1">
                <a:solidFill>
                  <a:srgbClr val="C0392B"/>
                </a:solidFill>
                <a:latin typeface="微软雅黑"/>
                <a:ea typeface="微软雅黑"/>
                <a:cs typeface="微软雅黑"/>
              </a:rPr>
              <a:t>质量 0.80   </a:t>
            </a:r>
            <a:r>
              <a:rPr sz="1300" b="0">
                <a:solidFill>
                  <a:srgbClr val="1A1A1A"/>
                </a:solidFill>
                <a:latin typeface="微软雅黑"/>
                <a:ea typeface="微软雅黑"/>
                <a:cs typeface="微软雅黑"/>
              </a:rPr>
              <a:t>惩罚 0.00</a:t>
            </a:r>
          </a:p>
        </p:txBody>
      </p:sp>
      <p:sp>
        <p:nvSpPr>
          <p:cNvPr id="5" name="Rectangle 4"/>
          <p:cNvSpPr/>
          <p:nvPr/>
        </p:nvSpPr>
        <p:spPr>
          <a:xfrm>
            <a:off x="329184" y="640080"/>
            <a:ext cx="4297680" cy="594360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438912" y="1572768"/>
            <a:ext cx="4078224" cy="4078224"/>
          </a:xfrm>
          <a:prstGeom prst="rect">
            <a:avLst/>
          </a:prstGeom>
        </p:spPr>
      </p:pic>
      <p:sp>
        <p:nvSpPr>
          <p:cNvPr id="7" name="Rectangle 6"/>
          <p:cNvSpPr/>
          <p:nvPr/>
        </p:nvSpPr>
        <p:spPr>
          <a:xfrm>
            <a:off x="4791456" y="640080"/>
            <a:ext cx="7059168" cy="1895856"/>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91456" y="640080"/>
            <a:ext cx="73152" cy="189585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74336" y="731520"/>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1A1A1A"/>
                </a:solidFill>
                <a:latin typeface="微软雅黑"/>
                <a:ea typeface="微软雅黑"/>
                <a:cs typeface="微软雅黑"/>
              </a:rPr>
              <a:t>惩罚没有扣分</a:t>
            </a:r>
          </a:p>
        </p:txBody>
      </p:sp>
      <p:sp>
        <p:nvSpPr>
          <p:cNvPr id="10" name="TextBox 9"/>
          <p:cNvSpPr txBox="1"/>
          <p:nvPr/>
        </p:nvSpPr>
        <p:spPr>
          <a:xfrm>
            <a:off x="4974336" y="1078992"/>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五项都是 0：生成内容、一致性、协调性、合理性、公式模板。左右两套已经收成一套，惩罚不再扣。</a:t>
            </a:r>
          </a:p>
        </p:txBody>
      </p:sp>
      <p:sp>
        <p:nvSpPr>
          <p:cNvPr id="11" name="Rectangle 10"/>
          <p:cNvSpPr/>
          <p:nvPr/>
        </p:nvSpPr>
        <p:spPr>
          <a:xfrm>
            <a:off x="4791456" y="2663952"/>
            <a:ext cx="7059168" cy="1895856"/>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91456" y="2663952"/>
            <a:ext cx="73152" cy="189585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2755392"/>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C0392B"/>
                </a:solidFill>
                <a:latin typeface="微软雅黑"/>
                <a:ea typeface="微软雅黑"/>
                <a:cs typeface="微软雅黑"/>
              </a:rPr>
              <a:t>扣在设计价值</a:t>
            </a:r>
          </a:p>
        </p:txBody>
      </p:sp>
      <p:sp>
        <p:nvSpPr>
          <p:cNvPr id="14" name="TextBox 13"/>
          <p:cNvSpPr txBox="1"/>
          <p:nvPr/>
        </p:nvSpPr>
        <p:spPr>
          <a:xfrm>
            <a:off x="4974336" y="3102864"/>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钩针贴花没留下。正文只写了翻领、袖子、西裤和鞋。</a:t>
            </a:r>
            <a:r>
              <a:rPr sz="1400" b="1">
                <a:solidFill>
                  <a:srgbClr val="C0392B"/>
                </a:solidFill>
                <a:latin typeface="微软雅黑"/>
                <a:ea typeface="微软雅黑"/>
                <a:cs typeface="微软雅黑"/>
              </a:rPr>
              <a:t>换掉颜色和面料之后，看不出这是哪一套，</a:t>
            </a:r>
            <a:r>
              <a:rPr sz="1400" b="0">
                <a:solidFill>
                  <a:srgbClr val="1A1A1A"/>
                </a:solidFill>
                <a:latin typeface="微软雅黑"/>
                <a:ea typeface="微软雅黑"/>
                <a:cs typeface="微软雅黑"/>
              </a:rPr>
              <a:t>所以设计价值三项最高只能到 0.5，合起来是 0.625，质量是 0.80。覆盖是 1.00，总分停在 0.84。</a:t>
            </a:r>
          </a:p>
        </p:txBody>
      </p:sp>
      <p:sp>
        <p:nvSpPr>
          <p:cNvPr id="15" name="Rectangle 14"/>
          <p:cNvSpPr/>
          <p:nvPr/>
        </p:nvSpPr>
        <p:spPr>
          <a:xfrm>
            <a:off x="4791456" y="4687824"/>
            <a:ext cx="7059168" cy="1895856"/>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91456" y="4687824"/>
            <a:ext cx="73152" cy="189585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4779264"/>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C0392B"/>
                </a:solidFill>
                <a:latin typeface="微软雅黑"/>
                <a:ea typeface="微软雅黑"/>
                <a:cs typeface="微软雅黑"/>
              </a:rPr>
              <a:t>图上的体现</a:t>
            </a:r>
          </a:p>
        </p:txBody>
      </p:sp>
      <p:sp>
        <p:nvSpPr>
          <p:cNvPr id="18" name="TextBox 17"/>
          <p:cNvSpPr txBox="1"/>
          <p:nvPr/>
        </p:nvSpPr>
        <p:spPr>
          <a:xfrm>
            <a:off x="4974336" y="5126736"/>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入选图是一套对称的哑光黑西装：翻领、装袖、压线西裤、浅口鞋都在。</a:t>
            </a:r>
            <a:r>
              <a:rPr sz="1400" b="1">
                <a:solidFill>
                  <a:srgbClr val="C0392B"/>
                </a:solidFill>
                <a:latin typeface="微软雅黑"/>
                <a:ea typeface="微软雅黑"/>
                <a:cs typeface="微软雅黑"/>
              </a:rPr>
              <a:t>门襟和胸前没有钩针花，红钩针包也不在。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667512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08   风格不一致</a:t>
            </a:r>
            <a:r>
              <a:rPr sz="1800" b="0">
                <a:solidFill>
                  <a:srgbClr val="5C5C5C"/>
                </a:solidFill>
                <a:latin typeface="微软雅黑"/>
                <a:ea typeface="微软雅黑"/>
                <a:cs typeface="微软雅黑"/>
              </a:rPr>
              <a:t>    夜花园刺绣</a:t>
            </a:r>
          </a:p>
        </p:txBody>
      </p:sp>
      <p:sp>
        <p:nvSpPr>
          <p:cNvPr id="4" name="TextBox 3"/>
          <p:cNvSpPr txBox="1"/>
          <p:nvPr/>
        </p:nvSpPr>
        <p:spPr>
          <a:xfrm>
            <a:off x="7040880" y="164592"/>
            <a:ext cx="4754880" cy="347472"/>
          </a:xfrm>
          <a:prstGeom prst="rect">
            <a:avLst/>
          </a:prstGeom>
          <a:noFill/>
        </p:spPr>
        <p:txBody>
          <a:bodyPr wrap="square" lIns="54864" rIns="54864" tIns="18288" bIns="18288" anchor="t"/>
          <a:lstStyle/>
          <a:p>
            <a:pPr algn="r">
              <a:lnSpc>
                <a:spcPct val="100000"/>
              </a:lnSpc>
              <a:spcBef>
                <a:spcPts val="0"/>
              </a:spcBef>
              <a:spcAft>
                <a:spcPts val="0"/>
              </a:spcAft>
            </a:pPr>
            <a:r>
              <a:rPr sz="1400" b="0">
                <a:solidFill>
                  <a:srgbClr val="1A1A1A"/>
                </a:solidFill>
                <a:latin typeface="微软雅黑"/>
                <a:ea typeface="微软雅黑"/>
                <a:cs typeface="微软雅黑"/>
              </a:rPr>
              <a:t>原文 0.36 / 0.60</a:t>
            </a:r>
            <a:r>
              <a:rPr sz="1400" b="0">
                <a:solidFill>
                  <a:srgbClr val="1A1A1A"/>
                </a:solidFill>
                <a:latin typeface="微软雅黑"/>
                <a:ea typeface="微软雅黑"/>
                <a:cs typeface="微软雅黑"/>
              </a:rPr>
              <a:t>   →   </a:t>
            </a:r>
            <a:r>
              <a:rPr sz="1400" b="1">
                <a:solidFill>
                  <a:srgbClr val="C0392B"/>
                </a:solidFill>
                <a:latin typeface="微软雅黑"/>
                <a:ea typeface="微软雅黑"/>
                <a:cs typeface="微软雅黑"/>
              </a:rPr>
              <a:t>入选 1.00 / 0.00</a:t>
            </a:r>
          </a:p>
        </p:txBody>
      </p:sp>
      <p:sp>
        <p:nvSpPr>
          <p:cNvPr id="5" name="Rectangle 4"/>
          <p:cNvSpPr/>
          <p:nvPr/>
        </p:nvSpPr>
        <p:spPr>
          <a:xfrm>
            <a:off x="329184"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1682496" y="640080"/>
            <a:ext cx="2980944" cy="2980944"/>
          </a:xfrm>
          <a:prstGeom prst="rect">
            <a:avLst/>
          </a:prstGeom>
        </p:spPr>
      </p:pic>
      <p:sp>
        <p:nvSpPr>
          <p:cNvPr id="7" name="TextBox 6"/>
          <p:cNvSpPr txBox="1"/>
          <p:nvPr/>
        </p:nvSpPr>
        <p:spPr>
          <a:xfrm>
            <a:off x="329184"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1A1A1A"/>
                </a:solidFill>
                <a:latin typeface="微软雅黑"/>
                <a:ea typeface="微软雅黑"/>
                <a:cs typeface="微软雅黑"/>
              </a:rPr>
              <a:t>改写前</a:t>
            </a:r>
          </a:p>
        </p:txBody>
      </p:sp>
      <p:sp>
        <p:nvSpPr>
          <p:cNvPr id="8" name="TextBox 7"/>
          <p:cNvSpPr txBox="1"/>
          <p:nvPr/>
        </p:nvSpPr>
        <p:spPr>
          <a:xfrm>
            <a:off x="329184"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0">
                <a:solidFill>
                  <a:srgbClr val="1A1A1A"/>
                </a:solidFill>
                <a:latin typeface="微软雅黑"/>
                <a:ea typeface="微软雅黑"/>
                <a:cs typeface="微软雅黑"/>
              </a:rPr>
              <a:t>Theme: night-garden embroidery. Concept: colored crochet florals on a black ground should stay a dense handmade day look. The boxy black jacket still has that appliqué, gold-tone buttons, white piping, black bike shorts, and a red crochet bag. The lower body and head, however, are a different concept entirely: </a:t>
            </a:r>
            <a:r>
              <a:rPr sz="1000" b="1">
                <a:solidFill>
                  <a:srgbClr val="C0392B"/>
                </a:solidFill>
                <a:latin typeface="微软雅黑"/>
                <a:ea typeface="微软雅黑"/>
                <a:cs typeface="微软雅黑"/>
              </a:rPr>
              <a:t>a white bridal cathedral gown with orange-blossom clusters, a floor-length tulle veil, and white satin court shoes.</a:t>
            </a:r>
            <a:r>
              <a:rPr sz="1000" b="0">
                <a:solidFill>
                  <a:srgbClr val="1A1A1A"/>
                </a:solidFill>
                <a:latin typeface="微软雅黑"/>
                <a:ea typeface="微软雅黑"/>
                <a:cs typeface="微软雅黑"/>
              </a:rPr>
              <a:t> </a:t>
            </a:r>
            <a:r>
              <a:rPr sz="1000" b="1">
                <a:solidFill>
                  <a:srgbClr val="C0392B"/>
                </a:solidFill>
                <a:latin typeface="微软雅黑"/>
                <a:ea typeface="微软雅黑"/>
                <a:cs typeface="微软雅黑"/>
              </a:rPr>
              <a:t>The handmade day jacket and the bridal ceremony do not belong to one theme.</a:t>
            </a:r>
          </a:p>
        </p:txBody>
      </p:sp>
      <p:sp>
        <p:nvSpPr>
          <p:cNvPr id="9" name="Rectangle 8"/>
          <p:cNvSpPr/>
          <p:nvPr/>
        </p:nvSpPr>
        <p:spPr>
          <a:xfrm>
            <a:off x="6217920"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jpg"/>
          <p:cNvPicPr>
            <a:picLocks noChangeAspect="1"/>
          </p:cNvPicPr>
          <p:nvPr/>
        </p:nvPicPr>
        <p:blipFill>
          <a:blip r:embed="rId3"/>
          <a:stretch>
            <a:fillRect/>
          </a:stretch>
        </p:blipFill>
        <p:spPr>
          <a:xfrm>
            <a:off x="7571232" y="640080"/>
            <a:ext cx="2980944" cy="2980944"/>
          </a:xfrm>
          <a:prstGeom prst="rect">
            <a:avLst/>
          </a:prstGeom>
        </p:spPr>
      </p:pic>
      <p:sp>
        <p:nvSpPr>
          <p:cNvPr id="11" name="TextBox 10"/>
          <p:cNvSpPr txBox="1"/>
          <p:nvPr/>
        </p:nvSpPr>
        <p:spPr>
          <a:xfrm>
            <a:off x="6217920"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C0392B"/>
                </a:solidFill>
                <a:latin typeface="微软雅黑"/>
                <a:ea typeface="微软雅黑"/>
                <a:cs typeface="微软雅黑"/>
              </a:rPr>
              <a:t>改写后</a:t>
            </a:r>
          </a:p>
        </p:txBody>
      </p:sp>
      <p:sp>
        <p:nvSpPr>
          <p:cNvPr id="12" name="TextBox 11"/>
          <p:cNvSpPr txBox="1"/>
          <p:nvPr/>
        </p:nvSpPr>
        <p:spPr>
          <a:xfrm>
            <a:off x="6217920"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0">
                <a:solidFill>
                  <a:srgbClr val="1A1A1A"/>
                </a:solidFill>
                <a:latin typeface="微软雅黑"/>
                <a:ea typeface="微软雅黑"/>
                <a:cs typeface="微软雅黑"/>
              </a:rPr>
              <a:t>Boxy black jacket with </a:t>
            </a:r>
            <a:r>
              <a:rPr sz="1000" b="1">
                <a:solidFill>
                  <a:srgbClr val="C0392B"/>
                </a:solidFill>
                <a:latin typeface="微软雅黑"/>
                <a:ea typeface="微软雅黑"/>
                <a:cs typeface="微软雅黑"/>
              </a:rPr>
              <a:t>colored crochet florals on a black ground,</a:t>
            </a:r>
            <a:r>
              <a:rPr sz="1000" b="0">
                <a:solidFill>
                  <a:srgbClr val="1A1A1A"/>
                </a:solidFill>
                <a:latin typeface="微软雅黑"/>
                <a:ea typeface="微软雅黑"/>
                <a:cs typeface="微软雅黑"/>
              </a:rPr>
              <a:t> featuring appliquéd golden buttons and </a:t>
            </a:r>
            <a:r>
              <a:rPr sz="1000" b="1">
                <a:solidFill>
                  <a:srgbClr val="C0392B"/>
                </a:solidFill>
                <a:latin typeface="微软雅黑"/>
                <a:ea typeface="微软雅黑"/>
                <a:cs typeface="微软雅黑"/>
              </a:rPr>
              <a:t>white piping.</a:t>
            </a:r>
            <a:r>
              <a:rPr sz="1000" b="0">
                <a:solidFill>
                  <a:srgbClr val="1A1A1A"/>
                </a:solidFill>
                <a:latin typeface="微软雅黑"/>
                <a:ea typeface="微软雅黑"/>
                <a:cs typeface="微软雅黑"/>
              </a:rPr>
              <a:t> The jacket has a boxy silhouette, reaching mid-thigh, with a single-button closure. </a:t>
            </a:r>
            <a:r>
              <a:rPr sz="1000" b="1">
                <a:solidFill>
                  <a:srgbClr val="C0392B"/>
                </a:solidFill>
                <a:latin typeface="微软雅黑"/>
                <a:ea typeface="微软雅黑"/>
                <a:cs typeface="微软雅黑"/>
              </a:rPr>
              <a:t>Black bike shorts</a:t>
            </a:r>
            <a:r>
              <a:rPr sz="1000" b="0">
                <a:solidFill>
                  <a:srgbClr val="1A1A1A"/>
                </a:solidFill>
                <a:latin typeface="微软雅黑"/>
                <a:ea typeface="微软雅黑"/>
                <a:cs typeface="微软雅黑"/>
              </a:rPr>
              <a:t> sit beneath, providing a sleek, fitted look. Completing the ensemble is a </a:t>
            </a:r>
            <a:r>
              <a:rPr sz="1000" b="1">
                <a:solidFill>
                  <a:srgbClr val="C0392B"/>
                </a:solidFill>
                <a:latin typeface="微软雅黑"/>
                <a:ea typeface="微软雅黑"/>
                <a:cs typeface="微软雅黑"/>
              </a:rPr>
              <a:t>red crochet handbag.</a:t>
            </a:r>
          </a:p>
        </p:txBody>
      </p:sp>
      <p:sp>
        <p:nvSpPr>
          <p:cNvPr id="13" name="Rectangle 12"/>
          <p:cNvSpPr/>
          <p:nvPr/>
        </p:nvSpPr>
        <p:spPr>
          <a:xfrm>
            <a:off x="329184" y="5870448"/>
            <a:ext cx="11539728" cy="841248"/>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 y="5870448"/>
            <a:ext cx="73152" cy="8412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5925312"/>
            <a:ext cx="11247120" cy="731520"/>
          </a:xfrm>
          <a:prstGeom prst="rect">
            <a:avLst/>
          </a:prstGeom>
          <a:noFill/>
        </p:spPr>
        <p:txBody>
          <a:bodyPr wrap="square" lIns="54864" rIns="54864" tIns="18288" bIns="18288" anchor="ctr"/>
          <a:lstStyle/>
          <a:p>
            <a:pPr algn="l">
              <a:lnSpc>
                <a:spcPct val="100000"/>
              </a:lnSpc>
              <a:spcBef>
                <a:spcPts val="0"/>
              </a:spcBef>
              <a:spcAft>
                <a:spcPts val="0"/>
              </a:spcAft>
            </a:pPr>
            <a:r>
              <a:rPr sz="1300" b="1">
                <a:solidFill>
                  <a:srgbClr val="1A1A1A"/>
                </a:solidFill>
                <a:latin typeface="微软雅黑"/>
                <a:ea typeface="微软雅黑"/>
                <a:cs typeface="微软雅黑"/>
              </a:rPr>
              <a:t>改写点：另一套主题删除。</a:t>
            </a:r>
            <a:r>
              <a:rPr sz="1300" b="1">
                <a:solidFill>
                  <a:srgbClr val="C0392B"/>
                </a:solidFill>
                <a:latin typeface="微软雅黑"/>
                <a:ea typeface="微软雅黑"/>
                <a:cs typeface="微软雅黑"/>
              </a:rPr>
              <a:t>白纱新娘礼服、橙花、及地头纱、白缎浅口鞋</a:t>
            </a:r>
            <a:r>
              <a:rPr sz="1300" b="0">
                <a:solidFill>
                  <a:srgbClr val="1A1A1A"/>
                </a:solidFill>
                <a:latin typeface="微软雅黑"/>
                <a:ea typeface="微软雅黑"/>
                <a:cs typeface="微软雅黑"/>
              </a:rPr>
              <a:t>不再出现。日装侧留下：</a:t>
            </a:r>
            <a:r>
              <a:rPr sz="1300" b="1">
                <a:solidFill>
                  <a:srgbClr val="C0392B"/>
                </a:solidFill>
                <a:latin typeface="微软雅黑"/>
                <a:ea typeface="微软雅黑"/>
                <a:cs typeface="微软雅黑"/>
              </a:rPr>
              <a:t>黑底彩色钩针、白滚边、黑骑行短裤、红钩针包。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749808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08   入选稿的扣分</a:t>
            </a:r>
            <a:r>
              <a:rPr sz="1800" b="0">
                <a:solidFill>
                  <a:srgbClr val="5C5C5C"/>
                </a:solidFill>
                <a:latin typeface="微软雅黑"/>
                <a:ea typeface="微软雅黑"/>
                <a:cs typeface="微软雅黑"/>
              </a:rPr>
              <a:t>    夜花园刺绣</a:t>
            </a:r>
          </a:p>
        </p:txBody>
      </p:sp>
      <p:sp>
        <p:nvSpPr>
          <p:cNvPr id="4" name="TextBox 3"/>
          <p:cNvSpPr txBox="1"/>
          <p:nvPr/>
        </p:nvSpPr>
        <p:spPr>
          <a:xfrm>
            <a:off x="7680960" y="164592"/>
            <a:ext cx="4114800" cy="347472"/>
          </a:xfrm>
          <a:prstGeom prst="rect">
            <a:avLst/>
          </a:prstGeom>
          <a:noFill/>
        </p:spPr>
        <p:txBody>
          <a:bodyPr wrap="square" lIns="54864" rIns="54864" tIns="18288" bIns="18288" anchor="t"/>
          <a:lstStyle/>
          <a:p>
            <a:pPr algn="r">
              <a:lnSpc>
                <a:spcPct val="100000"/>
              </a:lnSpc>
              <a:spcBef>
                <a:spcPts val="0"/>
              </a:spcBef>
              <a:spcAft>
                <a:spcPts val="0"/>
              </a:spcAft>
            </a:pPr>
            <a:r>
              <a:rPr sz="1300" b="0">
                <a:solidFill>
                  <a:srgbClr val="1A1A1A"/>
                </a:solidFill>
                <a:latin typeface="微软雅黑"/>
                <a:ea typeface="微软雅黑"/>
                <a:cs typeface="微软雅黑"/>
              </a:rPr>
              <a:t>覆盖 1.00   </a:t>
            </a:r>
            <a:r>
              <a:rPr sz="1300" b="0">
                <a:solidFill>
                  <a:srgbClr val="1A1A1A"/>
                </a:solidFill>
                <a:latin typeface="微软雅黑"/>
                <a:ea typeface="微软雅黑"/>
                <a:cs typeface="微软雅黑"/>
              </a:rPr>
              <a:t>质量 1.00   </a:t>
            </a:r>
            <a:r>
              <a:rPr sz="1300" b="0">
                <a:solidFill>
                  <a:srgbClr val="1A1A1A"/>
                </a:solidFill>
                <a:latin typeface="微软雅黑"/>
                <a:ea typeface="微软雅黑"/>
                <a:cs typeface="微软雅黑"/>
              </a:rPr>
              <a:t>惩罚 0.00</a:t>
            </a:r>
          </a:p>
        </p:txBody>
      </p:sp>
      <p:sp>
        <p:nvSpPr>
          <p:cNvPr id="5" name="Rectangle 4"/>
          <p:cNvSpPr/>
          <p:nvPr/>
        </p:nvSpPr>
        <p:spPr>
          <a:xfrm>
            <a:off x="329184" y="640080"/>
            <a:ext cx="4297680" cy="594360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438912" y="1572768"/>
            <a:ext cx="4078224" cy="4078224"/>
          </a:xfrm>
          <a:prstGeom prst="rect">
            <a:avLst/>
          </a:prstGeom>
        </p:spPr>
      </p:pic>
      <p:sp>
        <p:nvSpPr>
          <p:cNvPr id="7" name="Rectangle 6"/>
          <p:cNvSpPr/>
          <p:nvPr/>
        </p:nvSpPr>
        <p:spPr>
          <a:xfrm>
            <a:off x="4791456" y="640080"/>
            <a:ext cx="7059168" cy="2907792"/>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91456" y="640080"/>
            <a:ext cx="73152" cy="290779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74336" y="731520"/>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1A1A1A"/>
                </a:solidFill>
                <a:latin typeface="微软雅黑"/>
                <a:ea typeface="微软雅黑"/>
                <a:cs typeface="微软雅黑"/>
              </a:rPr>
              <a:t>没有剩余扣分</a:t>
            </a:r>
          </a:p>
        </p:txBody>
      </p:sp>
      <p:sp>
        <p:nvSpPr>
          <p:cNvPr id="10" name="TextBox 9"/>
          <p:cNvSpPr txBox="1"/>
          <p:nvPr/>
        </p:nvSpPr>
        <p:spPr>
          <a:xfrm>
            <a:off x="4974336" y="1078992"/>
            <a:ext cx="6720840" cy="2377440"/>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惩罚 0.00，覆盖 1.00，质量 1.00，总分 1.00。五项惩罚都是 0。</a:t>
            </a:r>
            <a:r>
              <a:rPr sz="1400" b="1">
                <a:solidFill>
                  <a:srgbClr val="C0392B"/>
                </a:solidFill>
                <a:latin typeface="微软雅黑"/>
                <a:ea typeface="微软雅黑"/>
                <a:cs typeface="微软雅黑"/>
              </a:rPr>
              <a:t>领口和门襟上的白滚边，换掉颜色和面料之后仍然认得出，</a:t>
            </a:r>
            <a:r>
              <a:rPr sz="1400" b="0">
                <a:solidFill>
                  <a:srgbClr val="1A1A1A"/>
                </a:solidFill>
                <a:latin typeface="微软雅黑"/>
                <a:ea typeface="微软雅黑"/>
                <a:cs typeface="微软雅黑"/>
              </a:rPr>
              <a:t>所以设计价值没有被压低。</a:t>
            </a:r>
          </a:p>
        </p:txBody>
      </p:sp>
      <p:sp>
        <p:nvSpPr>
          <p:cNvPr id="11" name="Rectangle 10"/>
          <p:cNvSpPr/>
          <p:nvPr/>
        </p:nvSpPr>
        <p:spPr>
          <a:xfrm>
            <a:off x="4791456" y="3675888"/>
            <a:ext cx="7059168" cy="2907792"/>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91456" y="3675888"/>
            <a:ext cx="73152" cy="2907792"/>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3767328"/>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1A1A1A"/>
                </a:solidFill>
                <a:latin typeface="微软雅黑"/>
                <a:ea typeface="微软雅黑"/>
                <a:cs typeface="微软雅黑"/>
              </a:rPr>
              <a:t>图上对得上留下来的那一侧</a:t>
            </a:r>
          </a:p>
        </p:txBody>
      </p:sp>
      <p:sp>
        <p:nvSpPr>
          <p:cNvPr id="14" name="TextBox 13"/>
          <p:cNvSpPr txBox="1"/>
          <p:nvPr/>
        </p:nvSpPr>
        <p:spPr>
          <a:xfrm>
            <a:off x="4974336" y="4114800"/>
            <a:ext cx="6720840" cy="2377440"/>
          </a:xfrm>
          <a:prstGeom prst="rect">
            <a:avLst/>
          </a:prstGeom>
          <a:noFill/>
        </p:spPr>
        <p:txBody>
          <a:bodyPr wrap="square" lIns="54864" rIns="54864" tIns="18288" bIns="18288" anchor="t"/>
          <a:lstStyle/>
          <a:p>
            <a:pPr algn="l">
              <a:lnSpc>
                <a:spcPct val="100000"/>
              </a:lnSpc>
              <a:spcBef>
                <a:spcPts val="0"/>
              </a:spcBef>
              <a:spcAft>
                <a:spcPts val="0"/>
              </a:spcAft>
            </a:pPr>
            <a:r>
              <a:rPr sz="1400" b="1">
                <a:solidFill>
                  <a:srgbClr val="C0392B"/>
                </a:solidFill>
                <a:latin typeface="微软雅黑"/>
                <a:ea typeface="微软雅黑"/>
                <a:cs typeface="微软雅黑"/>
              </a:rPr>
              <a:t>黑底彩色钩针、白滚边、金扣、黑骑行短裤、红钩针包都在。</a:t>
            </a:r>
            <a:r>
              <a:rPr sz="1400" b="0">
                <a:solidFill>
                  <a:srgbClr val="1A1A1A"/>
                </a:solidFill>
                <a:latin typeface="微软雅黑"/>
                <a:ea typeface="微软雅黑"/>
                <a:cs typeface="微软雅黑"/>
              </a:rPr>
              <a:t>头纱、橙花和教堂纱裙不在。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667512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17   同要素矛盾</a:t>
            </a:r>
            <a:r>
              <a:rPr sz="1800" b="0">
                <a:solidFill>
                  <a:srgbClr val="5C5C5C"/>
                </a:solidFill>
                <a:latin typeface="微软雅黑"/>
                <a:ea typeface="微软雅黑"/>
                <a:cs typeface="微软雅黑"/>
              </a:rPr>
              <a:t>    悬垂丝带</a:t>
            </a:r>
          </a:p>
        </p:txBody>
      </p:sp>
      <p:sp>
        <p:nvSpPr>
          <p:cNvPr id="4" name="TextBox 3"/>
          <p:cNvSpPr txBox="1"/>
          <p:nvPr/>
        </p:nvSpPr>
        <p:spPr>
          <a:xfrm>
            <a:off x="7040880" y="164592"/>
            <a:ext cx="4754880" cy="347472"/>
          </a:xfrm>
          <a:prstGeom prst="rect">
            <a:avLst/>
          </a:prstGeom>
          <a:noFill/>
        </p:spPr>
        <p:txBody>
          <a:bodyPr wrap="square" lIns="54864" rIns="54864" tIns="18288" bIns="18288" anchor="t"/>
          <a:lstStyle/>
          <a:p>
            <a:pPr algn="r">
              <a:lnSpc>
                <a:spcPct val="100000"/>
              </a:lnSpc>
              <a:spcBef>
                <a:spcPts val="0"/>
              </a:spcBef>
              <a:spcAft>
                <a:spcPts val="0"/>
              </a:spcAft>
            </a:pPr>
            <a:r>
              <a:rPr sz="1400" b="0">
                <a:solidFill>
                  <a:srgbClr val="1A1A1A"/>
                </a:solidFill>
                <a:latin typeface="微软雅黑"/>
                <a:ea typeface="微软雅黑"/>
                <a:cs typeface="微软雅黑"/>
              </a:rPr>
              <a:t>原文 0.40 / 0.65</a:t>
            </a:r>
            <a:r>
              <a:rPr sz="1400" b="0">
                <a:solidFill>
                  <a:srgbClr val="1A1A1A"/>
                </a:solidFill>
                <a:latin typeface="微软雅黑"/>
                <a:ea typeface="微软雅黑"/>
                <a:cs typeface="微软雅黑"/>
              </a:rPr>
              <a:t>   →   </a:t>
            </a:r>
            <a:r>
              <a:rPr sz="1400" b="1">
                <a:solidFill>
                  <a:srgbClr val="C0392B"/>
                </a:solidFill>
                <a:latin typeface="微软雅黑"/>
                <a:ea typeface="微软雅黑"/>
                <a:cs typeface="微软雅黑"/>
              </a:rPr>
              <a:t>入选 0.70 / 0.00</a:t>
            </a:r>
          </a:p>
        </p:txBody>
      </p:sp>
      <p:sp>
        <p:nvSpPr>
          <p:cNvPr id="5" name="Rectangle 4"/>
          <p:cNvSpPr/>
          <p:nvPr/>
        </p:nvSpPr>
        <p:spPr>
          <a:xfrm>
            <a:off x="329184"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1682496" y="640080"/>
            <a:ext cx="2980944" cy="2980944"/>
          </a:xfrm>
          <a:prstGeom prst="rect">
            <a:avLst/>
          </a:prstGeom>
        </p:spPr>
      </p:pic>
      <p:sp>
        <p:nvSpPr>
          <p:cNvPr id="7" name="TextBox 6"/>
          <p:cNvSpPr txBox="1"/>
          <p:nvPr/>
        </p:nvSpPr>
        <p:spPr>
          <a:xfrm>
            <a:off x="329184"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1A1A1A"/>
                </a:solidFill>
                <a:latin typeface="微软雅黑"/>
                <a:ea typeface="微软雅黑"/>
                <a:cs typeface="微软雅黑"/>
              </a:rPr>
              <a:t>改写前</a:t>
            </a:r>
          </a:p>
        </p:txBody>
      </p:sp>
      <p:sp>
        <p:nvSpPr>
          <p:cNvPr id="8" name="TextBox 7"/>
          <p:cNvSpPr txBox="1"/>
          <p:nvPr/>
        </p:nvSpPr>
        <p:spPr>
          <a:xfrm>
            <a:off x="329184"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0">
                <a:solidFill>
                  <a:srgbClr val="1A1A1A"/>
                </a:solidFill>
                <a:latin typeface="微软雅黑"/>
                <a:ea typeface="微软雅黑"/>
                <a:cs typeface="微软雅黑"/>
              </a:rPr>
              <a:t>Theme: suspended ribbons. Concept: red, black, white, and pale beige ribbon strips fall from gold-tone shoulder accents and make the linear identity of the dress. The neckline is square to scoop between narrow black straps, and </a:t>
            </a:r>
            <a:r>
              <a:rPr sz="1000" b="1">
                <a:solidFill>
                  <a:srgbClr val="C0392B"/>
                </a:solidFill>
                <a:latin typeface="微软雅黑"/>
                <a:ea typeface="微软雅黑"/>
                <a:cs typeface="微软雅黑"/>
              </a:rPr>
              <a:t>the same neckline is a high stand collar with no straps.</a:t>
            </a:r>
            <a:r>
              <a:rPr sz="1000" b="0">
                <a:solidFill>
                  <a:srgbClr val="1A1A1A"/>
                </a:solidFill>
                <a:latin typeface="微软雅黑"/>
                <a:ea typeface="微软雅黑"/>
                <a:cs typeface="微软雅黑"/>
              </a:rPr>
              <a:t> The ground is vivid red with black vertical panels, and </a:t>
            </a:r>
            <a:r>
              <a:rPr sz="1000" b="1">
                <a:solidFill>
                  <a:srgbClr val="C0392B"/>
                </a:solidFill>
                <a:latin typeface="微软雅黑"/>
                <a:ea typeface="微软雅黑"/>
                <a:cs typeface="微软雅黑"/>
              </a:rPr>
              <a:t>the same dress is entirely black with no red.</a:t>
            </a:r>
            <a:r>
              <a:rPr sz="1000" b="0">
                <a:solidFill>
                  <a:srgbClr val="1A1A1A"/>
                </a:solidFill>
                <a:latin typeface="微软雅黑"/>
                <a:ea typeface="微软雅黑"/>
                <a:cs typeface="微软雅黑"/>
              </a:rPr>
              <a:t> The skirt is a loose midi column to mid-calf, and </a:t>
            </a:r>
            <a:r>
              <a:rPr sz="1000" b="1">
                <a:solidFill>
                  <a:srgbClr val="C0392B"/>
                </a:solidFill>
                <a:latin typeface="微软雅黑"/>
                <a:ea typeface="微软雅黑"/>
                <a:cs typeface="微软雅黑"/>
              </a:rPr>
              <a:t>the same hem is a cropped top ending at the waist.</a:t>
            </a:r>
          </a:p>
        </p:txBody>
      </p:sp>
      <p:sp>
        <p:nvSpPr>
          <p:cNvPr id="9" name="Rectangle 8"/>
          <p:cNvSpPr/>
          <p:nvPr/>
        </p:nvSpPr>
        <p:spPr>
          <a:xfrm>
            <a:off x="6217920" y="566928"/>
            <a:ext cx="5687568" cy="3127248"/>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jpg"/>
          <p:cNvPicPr>
            <a:picLocks noChangeAspect="1"/>
          </p:cNvPicPr>
          <p:nvPr/>
        </p:nvPicPr>
        <p:blipFill>
          <a:blip r:embed="rId3"/>
          <a:stretch>
            <a:fillRect/>
          </a:stretch>
        </p:blipFill>
        <p:spPr>
          <a:xfrm>
            <a:off x="7571232" y="640080"/>
            <a:ext cx="2980944" cy="2980944"/>
          </a:xfrm>
          <a:prstGeom prst="rect">
            <a:avLst/>
          </a:prstGeom>
        </p:spPr>
      </p:pic>
      <p:sp>
        <p:nvSpPr>
          <p:cNvPr id="11" name="TextBox 10"/>
          <p:cNvSpPr txBox="1"/>
          <p:nvPr/>
        </p:nvSpPr>
        <p:spPr>
          <a:xfrm>
            <a:off x="6217920" y="3730752"/>
            <a:ext cx="5687568" cy="256032"/>
          </a:xfrm>
          <a:prstGeom prst="rect">
            <a:avLst/>
          </a:prstGeom>
          <a:noFill/>
        </p:spPr>
        <p:txBody>
          <a:bodyPr wrap="square" lIns="54864" rIns="54864" tIns="18288" bIns="18288" anchor="t"/>
          <a:lstStyle/>
          <a:p>
            <a:pPr algn="l">
              <a:lnSpc>
                <a:spcPct val="100000"/>
              </a:lnSpc>
              <a:spcBef>
                <a:spcPts val="0"/>
              </a:spcBef>
              <a:spcAft>
                <a:spcPts val="0"/>
              </a:spcAft>
            </a:pPr>
            <a:r>
              <a:rPr sz="1200" b="1">
                <a:solidFill>
                  <a:srgbClr val="C0392B"/>
                </a:solidFill>
                <a:latin typeface="微软雅黑"/>
                <a:ea typeface="微软雅黑"/>
                <a:cs typeface="微软雅黑"/>
              </a:rPr>
              <a:t>改写后</a:t>
            </a:r>
          </a:p>
        </p:txBody>
      </p:sp>
      <p:sp>
        <p:nvSpPr>
          <p:cNvPr id="12" name="TextBox 11"/>
          <p:cNvSpPr txBox="1"/>
          <p:nvPr/>
        </p:nvSpPr>
        <p:spPr>
          <a:xfrm>
            <a:off x="6217920" y="3986784"/>
            <a:ext cx="5687568" cy="1783080"/>
          </a:xfrm>
          <a:prstGeom prst="rect">
            <a:avLst/>
          </a:prstGeom>
          <a:noFill/>
        </p:spPr>
        <p:txBody>
          <a:bodyPr wrap="square" lIns="54864" rIns="54864" tIns="18288" bIns="18288" anchor="t"/>
          <a:lstStyle/>
          <a:p>
            <a:pPr algn="l">
              <a:lnSpc>
                <a:spcPct val="100000"/>
              </a:lnSpc>
              <a:spcBef>
                <a:spcPts val="0"/>
              </a:spcBef>
              <a:spcAft>
                <a:spcPts val="0"/>
              </a:spcAft>
            </a:pPr>
            <a:r>
              <a:rPr sz="1000" b="1">
                <a:solidFill>
                  <a:srgbClr val="C0392B"/>
                </a:solidFill>
                <a:latin typeface="微软雅黑"/>
                <a:ea typeface="微软雅黑"/>
                <a:cs typeface="微软雅黑"/>
              </a:rPr>
              <a:t>Square-necked, red silk column dress</a:t>
            </a:r>
            <a:r>
              <a:rPr sz="1000" b="0">
                <a:solidFill>
                  <a:srgbClr val="1A1A1A"/>
                </a:solidFill>
                <a:latin typeface="微软雅黑"/>
                <a:ea typeface="微软雅黑"/>
                <a:cs typeface="微软雅黑"/>
              </a:rPr>
              <a:t> with </a:t>
            </a:r>
            <a:r>
              <a:rPr sz="1000" b="1">
                <a:solidFill>
                  <a:srgbClr val="C0392B"/>
                </a:solidFill>
                <a:latin typeface="微软雅黑"/>
                <a:ea typeface="微软雅黑"/>
                <a:cs typeface="微软雅黑"/>
              </a:rPr>
              <a:t>black vertical panels</a:t>
            </a:r>
            <a:r>
              <a:rPr sz="1000" b="0">
                <a:solidFill>
                  <a:srgbClr val="1A1A1A"/>
                </a:solidFill>
                <a:latin typeface="微软雅黑"/>
                <a:ea typeface="微软雅黑"/>
                <a:cs typeface="微软雅黑"/>
              </a:rPr>
              <a:t> falling from gold-shoulder ribbons. The hem is a </a:t>
            </a:r>
            <a:r>
              <a:rPr sz="1000" b="1">
                <a:solidFill>
                  <a:srgbClr val="C0392B"/>
                </a:solidFill>
                <a:latin typeface="微软雅黑"/>
                <a:ea typeface="微软雅黑"/>
                <a:cs typeface="微软雅黑"/>
              </a:rPr>
              <a:t>loose midi to mid-calf.</a:t>
            </a:r>
            <a:r>
              <a:rPr sz="1000" b="0">
                <a:solidFill>
                  <a:srgbClr val="1A1A1A"/>
                </a:solidFill>
                <a:latin typeface="微软雅黑"/>
                <a:ea typeface="微软雅黑"/>
                <a:cs typeface="微软雅黑"/>
              </a:rPr>
              <a:t> The dress closes with a concealed placket and is accented by </a:t>
            </a:r>
            <a:r>
              <a:rPr sz="1000" b="1">
                <a:solidFill>
                  <a:srgbClr val="C0392B"/>
                </a:solidFill>
                <a:latin typeface="微软雅黑"/>
                <a:ea typeface="微软雅黑"/>
                <a:cs typeface="微软雅黑"/>
              </a:rPr>
              <a:t>red, black, white, and pale beige ribbon strips.</a:t>
            </a:r>
          </a:p>
        </p:txBody>
      </p:sp>
      <p:sp>
        <p:nvSpPr>
          <p:cNvPr id="13" name="Rectangle 12"/>
          <p:cNvSpPr/>
          <p:nvPr/>
        </p:nvSpPr>
        <p:spPr>
          <a:xfrm>
            <a:off x="329184" y="5870448"/>
            <a:ext cx="11539728" cy="841248"/>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 y="5870448"/>
            <a:ext cx="73152" cy="8412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5925312"/>
            <a:ext cx="11247120" cy="731520"/>
          </a:xfrm>
          <a:prstGeom prst="rect">
            <a:avLst/>
          </a:prstGeom>
          <a:noFill/>
        </p:spPr>
        <p:txBody>
          <a:bodyPr wrap="square" lIns="54864" rIns="54864" tIns="18288" bIns="18288" anchor="ctr"/>
          <a:lstStyle/>
          <a:p>
            <a:pPr algn="l">
              <a:lnSpc>
                <a:spcPct val="100000"/>
              </a:lnSpc>
              <a:spcBef>
                <a:spcPts val="0"/>
              </a:spcBef>
              <a:spcAft>
                <a:spcPts val="0"/>
              </a:spcAft>
            </a:pPr>
            <a:r>
              <a:rPr sz="1300" b="1">
                <a:solidFill>
                  <a:srgbClr val="1A1A1A"/>
                </a:solidFill>
                <a:latin typeface="微软雅黑"/>
                <a:ea typeface="微软雅黑"/>
                <a:cs typeface="微软雅黑"/>
              </a:rPr>
              <a:t>改写点：同一条裙子上的第二套绑定删除。</a:t>
            </a:r>
            <a:r>
              <a:rPr sz="1300" b="1">
                <a:solidFill>
                  <a:srgbClr val="C0392B"/>
                </a:solidFill>
                <a:latin typeface="微软雅黑"/>
                <a:ea typeface="微软雅黑"/>
                <a:cs typeface="微软雅黑"/>
              </a:rPr>
              <a:t>立领、全黑、短上衣下摆</a:t>
            </a:r>
            <a:r>
              <a:rPr sz="1300" b="0">
                <a:solidFill>
                  <a:srgbClr val="1A1A1A"/>
                </a:solidFill>
                <a:latin typeface="微软雅黑"/>
                <a:ea typeface="微软雅黑"/>
                <a:cs typeface="微软雅黑"/>
              </a:rPr>
              <a:t>不再出现。只留</a:t>
            </a:r>
            <a:r>
              <a:rPr sz="1300" b="1">
                <a:solidFill>
                  <a:srgbClr val="C0392B"/>
                </a:solidFill>
                <a:latin typeface="微软雅黑"/>
                <a:ea typeface="微软雅黑"/>
                <a:cs typeface="微软雅黑"/>
              </a:rPr>
              <a:t>方领、红底黑竖条、中长下摆</a:t>
            </a:r>
            <a:r>
              <a:rPr sz="1300" b="0">
                <a:solidFill>
                  <a:srgbClr val="1A1A1A"/>
                </a:solidFill>
                <a:latin typeface="微软雅黑"/>
                <a:ea typeface="微软雅黑"/>
                <a:cs typeface="微软雅黑"/>
              </a:rPr>
              <a:t>，肩部金饰上的红、黑、白、米白丝带还在。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64592"/>
            <a:ext cx="7498080" cy="347472"/>
          </a:xfrm>
          <a:prstGeom prst="rect">
            <a:avLst/>
          </a:prstGeom>
          <a:noFill/>
        </p:spPr>
        <p:txBody>
          <a:bodyPr wrap="square" lIns="54864" rIns="54864" tIns="18288" bIns="18288" anchor="t"/>
          <a:lstStyle/>
          <a:p>
            <a:pPr algn="l">
              <a:lnSpc>
                <a:spcPct val="100000"/>
              </a:lnSpc>
              <a:spcBef>
                <a:spcPts val="0"/>
              </a:spcBef>
              <a:spcAft>
                <a:spcPts val="0"/>
              </a:spcAft>
            </a:pPr>
            <a:r>
              <a:rPr sz="1800" b="1">
                <a:solidFill>
                  <a:srgbClr val="1A1A1A"/>
                </a:solidFill>
                <a:latin typeface="微软雅黑"/>
                <a:ea typeface="微软雅黑"/>
                <a:cs typeface="微软雅黑"/>
              </a:rPr>
              <a:t>17   入选稿的扣分</a:t>
            </a:r>
            <a:r>
              <a:rPr sz="1800" b="0">
                <a:solidFill>
                  <a:srgbClr val="5C5C5C"/>
                </a:solidFill>
                <a:latin typeface="微软雅黑"/>
                <a:ea typeface="微软雅黑"/>
                <a:cs typeface="微软雅黑"/>
              </a:rPr>
              <a:t>    悬垂丝带</a:t>
            </a:r>
          </a:p>
        </p:txBody>
      </p:sp>
      <p:sp>
        <p:nvSpPr>
          <p:cNvPr id="4" name="TextBox 3"/>
          <p:cNvSpPr txBox="1"/>
          <p:nvPr/>
        </p:nvSpPr>
        <p:spPr>
          <a:xfrm>
            <a:off x="7680960" y="164592"/>
            <a:ext cx="4114800" cy="347472"/>
          </a:xfrm>
          <a:prstGeom prst="rect">
            <a:avLst/>
          </a:prstGeom>
          <a:noFill/>
        </p:spPr>
        <p:txBody>
          <a:bodyPr wrap="square" lIns="54864" rIns="54864" tIns="18288" bIns="18288" anchor="t"/>
          <a:lstStyle/>
          <a:p>
            <a:pPr algn="r">
              <a:lnSpc>
                <a:spcPct val="100000"/>
              </a:lnSpc>
              <a:spcBef>
                <a:spcPts val="0"/>
              </a:spcBef>
              <a:spcAft>
                <a:spcPts val="0"/>
              </a:spcAft>
            </a:pPr>
            <a:r>
              <a:rPr sz="1300" b="1">
                <a:solidFill>
                  <a:srgbClr val="C0392B"/>
                </a:solidFill>
                <a:latin typeface="微软雅黑"/>
                <a:ea typeface="微软雅黑"/>
                <a:cs typeface="微软雅黑"/>
              </a:rPr>
              <a:t>覆盖 0.67   </a:t>
            </a:r>
            <a:r>
              <a:rPr sz="1300" b="1">
                <a:solidFill>
                  <a:srgbClr val="C0392B"/>
                </a:solidFill>
                <a:latin typeface="微软雅黑"/>
                <a:ea typeface="微软雅黑"/>
                <a:cs typeface="微软雅黑"/>
              </a:rPr>
              <a:t>质量 0.71   </a:t>
            </a:r>
            <a:r>
              <a:rPr sz="1300" b="0">
                <a:solidFill>
                  <a:srgbClr val="1A1A1A"/>
                </a:solidFill>
                <a:latin typeface="微软雅黑"/>
                <a:ea typeface="微软雅黑"/>
                <a:cs typeface="微软雅黑"/>
              </a:rPr>
              <a:t>惩罚 0.00</a:t>
            </a:r>
          </a:p>
        </p:txBody>
      </p:sp>
      <p:sp>
        <p:nvSpPr>
          <p:cNvPr id="5" name="Rectangle 4"/>
          <p:cNvSpPr/>
          <p:nvPr/>
        </p:nvSpPr>
        <p:spPr>
          <a:xfrm>
            <a:off x="329184" y="640080"/>
            <a:ext cx="4297680" cy="594360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jpg"/>
          <p:cNvPicPr>
            <a:picLocks noChangeAspect="1"/>
          </p:cNvPicPr>
          <p:nvPr/>
        </p:nvPicPr>
        <p:blipFill>
          <a:blip r:embed="rId2"/>
          <a:stretch>
            <a:fillRect/>
          </a:stretch>
        </p:blipFill>
        <p:spPr>
          <a:xfrm>
            <a:off x="438912" y="1572768"/>
            <a:ext cx="4078224" cy="4078224"/>
          </a:xfrm>
          <a:prstGeom prst="rect">
            <a:avLst/>
          </a:prstGeom>
        </p:spPr>
      </p:pic>
      <p:sp>
        <p:nvSpPr>
          <p:cNvPr id="7" name="Rectangle 6"/>
          <p:cNvSpPr/>
          <p:nvPr/>
        </p:nvSpPr>
        <p:spPr>
          <a:xfrm>
            <a:off x="4791456" y="640080"/>
            <a:ext cx="7059168" cy="1895856"/>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91456" y="640080"/>
            <a:ext cx="73152" cy="1895856"/>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74336" y="731520"/>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1A1A1A"/>
                </a:solidFill>
                <a:latin typeface="微软雅黑"/>
                <a:ea typeface="微软雅黑"/>
                <a:cs typeface="微软雅黑"/>
              </a:rPr>
              <a:t>惩罚没有扣分</a:t>
            </a:r>
          </a:p>
        </p:txBody>
      </p:sp>
      <p:sp>
        <p:nvSpPr>
          <p:cNvPr id="10" name="TextBox 9"/>
          <p:cNvSpPr txBox="1"/>
          <p:nvPr/>
        </p:nvSpPr>
        <p:spPr>
          <a:xfrm>
            <a:off x="4974336" y="1078992"/>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五项都是 0。立领、全黑、短上衣下摆已经不在，同一条裙子不再写成两套。</a:t>
            </a:r>
          </a:p>
        </p:txBody>
      </p:sp>
      <p:sp>
        <p:nvSpPr>
          <p:cNvPr id="11" name="Rectangle 10"/>
          <p:cNvSpPr/>
          <p:nvPr/>
        </p:nvSpPr>
        <p:spPr>
          <a:xfrm>
            <a:off x="4791456" y="2663952"/>
            <a:ext cx="7059168" cy="1895856"/>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91456" y="2663952"/>
            <a:ext cx="73152" cy="189585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2755392"/>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C0392B"/>
                </a:solidFill>
                <a:latin typeface="微软雅黑"/>
                <a:ea typeface="微软雅黑"/>
                <a:cs typeface="微软雅黑"/>
              </a:rPr>
              <a:t>扣在覆盖和质量</a:t>
            </a:r>
          </a:p>
        </p:txBody>
      </p:sp>
      <p:sp>
        <p:nvSpPr>
          <p:cNvPr id="14" name="TextBox 13"/>
          <p:cNvSpPr txBox="1"/>
          <p:nvPr/>
        </p:nvSpPr>
        <p:spPr>
          <a:xfrm>
            <a:off x="4974336" y="3102864"/>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1">
                <a:solidFill>
                  <a:srgbClr val="C0392B"/>
                </a:solidFill>
                <a:latin typeface="微软雅黑"/>
                <a:ea typeface="微软雅黑"/>
                <a:cs typeface="微软雅黑"/>
              </a:rPr>
              <a:t>覆盖 0.67，质量 0.71，总分 0.70，低于 0.80 的分数门。</a:t>
            </a:r>
            <a:r>
              <a:rPr sz="1400" b="0">
                <a:solidFill>
                  <a:srgbClr val="1A1A1A"/>
                </a:solidFill>
                <a:latin typeface="微软雅黑"/>
                <a:ea typeface="微软雅黑"/>
                <a:cs typeface="微软雅黑"/>
              </a:rPr>
              <a:t>它仍入选，是因为高于原文，并且惩罚更低。规则只认三种一眼能认出来的写法：</a:t>
            </a:r>
            <a:r>
              <a:rPr sz="1400" b="1">
                <a:solidFill>
                  <a:srgbClr val="C0392B"/>
                </a:solidFill>
                <a:latin typeface="微软雅黑"/>
                <a:ea typeface="微软雅黑"/>
                <a:cs typeface="微软雅黑"/>
              </a:rPr>
              <a:t>整片面料上的花纹或肌理、沿着领口门襟下摆走的装饰、外衣敞开后单独也能看懂的内层。</a:t>
            </a:r>
            <a:r>
              <a:rPr sz="1400" b="0">
                <a:solidFill>
                  <a:srgbClr val="1A1A1A"/>
                </a:solidFill>
                <a:latin typeface="微软雅黑"/>
                <a:ea typeface="微软雅黑"/>
                <a:cs typeface="微软雅黑"/>
              </a:rPr>
              <a:t>肩上的丝带没写成这三种里的任何一种，所以这三项最高只能到 0.5，质量停在 0.71。采样没有留下覆盖轴具体是哪一项没命中。</a:t>
            </a:r>
          </a:p>
        </p:txBody>
      </p:sp>
      <p:sp>
        <p:nvSpPr>
          <p:cNvPr id="15" name="Rectangle 14"/>
          <p:cNvSpPr/>
          <p:nvPr/>
        </p:nvSpPr>
        <p:spPr>
          <a:xfrm>
            <a:off x="4791456" y="4687824"/>
            <a:ext cx="7059168" cy="1895856"/>
          </a:xfrm>
          <a:prstGeom prst="rect">
            <a:avLst/>
          </a:prstGeom>
          <a:solidFill>
            <a:srgbClr val="F8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91456" y="4687824"/>
            <a:ext cx="73152" cy="189585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4779264"/>
            <a:ext cx="6720840" cy="329184"/>
          </a:xfrm>
          <a:prstGeom prst="rect">
            <a:avLst/>
          </a:prstGeom>
          <a:noFill/>
        </p:spPr>
        <p:txBody>
          <a:bodyPr wrap="square" lIns="54864" rIns="54864" tIns="18288" bIns="18288" anchor="t"/>
          <a:lstStyle/>
          <a:p>
            <a:pPr algn="l">
              <a:lnSpc>
                <a:spcPct val="100000"/>
              </a:lnSpc>
              <a:spcBef>
                <a:spcPts val="0"/>
              </a:spcBef>
              <a:spcAft>
                <a:spcPts val="0"/>
              </a:spcAft>
            </a:pPr>
            <a:r>
              <a:rPr sz="1600" b="1">
                <a:solidFill>
                  <a:srgbClr val="C0392B"/>
                </a:solidFill>
                <a:latin typeface="微软雅黑"/>
                <a:ea typeface="微软雅黑"/>
                <a:cs typeface="微软雅黑"/>
              </a:rPr>
              <a:t>图上的体现</a:t>
            </a:r>
          </a:p>
        </p:txBody>
      </p:sp>
      <p:sp>
        <p:nvSpPr>
          <p:cNvPr id="18" name="TextBox 17"/>
          <p:cNvSpPr txBox="1"/>
          <p:nvPr/>
        </p:nvSpPr>
        <p:spPr>
          <a:xfrm>
            <a:off x="4974336" y="5126736"/>
            <a:ext cx="6720840" cy="1365504"/>
          </a:xfrm>
          <a:prstGeom prst="rect">
            <a:avLst/>
          </a:prstGeom>
          <a:noFill/>
        </p:spPr>
        <p:txBody>
          <a:bodyPr wrap="square" lIns="54864" rIns="54864" tIns="18288" bIns="18288" anchor="t"/>
          <a:lstStyle/>
          <a:p>
            <a:pPr algn="l">
              <a:lnSpc>
                <a:spcPct val="100000"/>
              </a:lnSpc>
              <a:spcBef>
                <a:spcPts val="0"/>
              </a:spcBef>
              <a:spcAft>
                <a:spcPts val="0"/>
              </a:spcAft>
            </a:pPr>
            <a:r>
              <a:rPr sz="1400" b="0">
                <a:solidFill>
                  <a:srgbClr val="1A1A1A"/>
                </a:solidFill>
                <a:latin typeface="微软雅黑"/>
                <a:ea typeface="微软雅黑"/>
                <a:cs typeface="微软雅黑"/>
              </a:rPr>
              <a:t>一条方领红底中长裙，金饰上垂着红、黑、白、米白丝带。</a:t>
            </a:r>
            <a:r>
              <a:rPr sz="1400" b="1">
                <a:solidFill>
                  <a:srgbClr val="C0392B"/>
                </a:solidFill>
                <a:latin typeface="微软雅黑"/>
                <a:ea typeface="微软雅黑"/>
                <a:cs typeface="微软雅黑"/>
              </a:rPr>
              <a:t>文本里的黑竖条没有画成裙身上另一块面板，而是并进了丝带。</a:t>
            </a:r>
            <a:r>
              <a:rPr sz="1400" b="1">
                <a:solidFill>
                  <a:srgbClr val="C0392B"/>
                </a:solidFill>
                <a:latin typeface="微软雅黑"/>
                <a:ea typeface="微软雅黑"/>
                <a:cs typeface="微软雅黑"/>
              </a:rPr>
              <a:t>全文没写鞋，图上的凉鞋是生成时补上的。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